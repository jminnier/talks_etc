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Noto Sans" panose="020B0502040504020204" pitchFamily="34" charset="0"/>
      <p:regular r:id="rId19"/>
    </p:embeddedFont>
    <p:embeddedFont>
      <p:font typeface="Noto Serif" panose="02020600060500020200" pitchFamily="18"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87" d="100"/>
          <a:sy n="87" d="100"/>
        </p:scale>
        <p:origin x="208"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410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92329"/>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Modern Approaches to Prediction Modeling: Integrating AI and Machine Learning</a:t>
            </a:r>
            <a:endParaRPr lang="en-US" sz="4450" dirty="0"/>
          </a:p>
        </p:txBody>
      </p:sp>
      <p:sp>
        <p:nvSpPr>
          <p:cNvPr id="4" name="Text 1"/>
          <p:cNvSpPr/>
          <p:nvPr/>
        </p:nvSpPr>
        <p:spPr>
          <a:xfrm>
            <a:off x="793790" y="4667607"/>
            <a:ext cx="7556421" cy="1451610"/>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Jessica Minnier, Ph.D.</a:t>
            </a:r>
            <a:r>
              <a:rPr lang="en-US" sz="1750" dirty="0">
                <a:solidFill>
                  <a:srgbClr val="585E60"/>
                </a:solidFill>
                <a:latin typeface="Noto Serif" pitchFamily="34" charset="0"/>
                <a:ea typeface="Noto Serif" pitchFamily="34" charset="-122"/>
                <a:cs typeface="Noto Serif" pitchFamily="34" charset="-120"/>
              </a:rPr>
              <a:t>Associate Professor, Biostatistics</a:t>
            </a:r>
          </a:p>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OHSU-PSU School of Public Health</a:t>
            </a:r>
          </a:p>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Knight Cancer Institute, Biostatistics &amp; Data Science Shared Resource</a:t>
            </a:r>
            <a:endParaRPr lang="en-US" sz="1750" dirty="0"/>
          </a:p>
        </p:txBody>
      </p:sp>
      <p:sp>
        <p:nvSpPr>
          <p:cNvPr id="5" name="Text 2"/>
          <p:cNvSpPr/>
          <p:nvPr/>
        </p:nvSpPr>
        <p:spPr>
          <a:xfrm>
            <a:off x="793790" y="637436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OHSU AI Research Summit, 11/19/2025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81896"/>
            <a:ext cx="12026146" cy="708779"/>
          </a:xfrm>
          <a:prstGeom prst="rect">
            <a:avLst/>
          </a:prstGeom>
          <a:noFill/>
          <a:ln/>
        </p:spPr>
        <p:txBody>
          <a:bodyPr wrap="non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The Evolution: From Association to Prediction</a:t>
            </a:r>
            <a:endParaRPr lang="en-US" sz="4450" dirty="0"/>
          </a:p>
        </p:txBody>
      </p:sp>
      <p:sp>
        <p:nvSpPr>
          <p:cNvPr id="3" name="Text 1"/>
          <p:cNvSpPr/>
          <p:nvPr/>
        </p:nvSpPr>
        <p:spPr>
          <a:xfrm>
            <a:off x="793790" y="2157651"/>
            <a:ext cx="3604736" cy="425291"/>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Traditional Association</a:t>
            </a:r>
            <a:endParaRPr lang="en-US" sz="2650" dirty="0"/>
          </a:p>
        </p:txBody>
      </p:sp>
      <p:sp>
        <p:nvSpPr>
          <p:cNvPr id="4" name="Text 2"/>
          <p:cNvSpPr/>
          <p:nvPr/>
        </p:nvSpPr>
        <p:spPr>
          <a:xfrm>
            <a:off x="793790" y="2809756"/>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Research Question:</a:t>
            </a:r>
            <a:r>
              <a:rPr lang="en-US" sz="1750" dirty="0">
                <a:solidFill>
                  <a:srgbClr val="585E60"/>
                </a:solidFill>
                <a:latin typeface="Noto Serif" pitchFamily="34" charset="0"/>
                <a:ea typeface="Noto Serif" pitchFamily="34" charset="-122"/>
                <a:cs typeface="Noto Serif" pitchFamily="34" charset="-120"/>
              </a:rPr>
              <a:t>"Is gene X associated with disease Y?"</a:t>
            </a:r>
            <a:endParaRPr lang="en-US" sz="1750" dirty="0"/>
          </a:p>
        </p:txBody>
      </p:sp>
      <p:sp>
        <p:nvSpPr>
          <p:cNvPr id="5" name="Text 3"/>
          <p:cNvSpPr/>
          <p:nvPr/>
        </p:nvSpPr>
        <p:spPr>
          <a:xfrm>
            <a:off x="793790" y="3739634"/>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Primary Goal:</a:t>
            </a:r>
            <a:r>
              <a:rPr lang="en-US" sz="1750" dirty="0">
                <a:solidFill>
                  <a:srgbClr val="585E60"/>
                </a:solidFill>
                <a:latin typeface="Noto Serif" pitchFamily="34" charset="0"/>
                <a:ea typeface="Noto Serif" pitchFamily="34" charset="-122"/>
                <a:cs typeface="Noto Serif" pitchFamily="34" charset="-120"/>
              </a:rPr>
              <a:t>Causal inference and etiologic understanding</a:t>
            </a:r>
            <a:endParaRPr lang="en-US" sz="1750" dirty="0"/>
          </a:p>
        </p:txBody>
      </p:sp>
      <p:sp>
        <p:nvSpPr>
          <p:cNvPr id="6" name="Text 4"/>
          <p:cNvSpPr/>
          <p:nvPr/>
        </p:nvSpPr>
        <p:spPr>
          <a:xfrm>
            <a:off x="793790" y="4669512"/>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Key Metrics:</a:t>
            </a:r>
            <a:r>
              <a:rPr lang="en-US" sz="1750" dirty="0">
                <a:solidFill>
                  <a:srgbClr val="585E60"/>
                </a:solidFill>
                <a:latin typeface="Noto Serif" pitchFamily="34" charset="0"/>
                <a:ea typeface="Noto Serif" pitchFamily="34" charset="-122"/>
                <a:cs typeface="Noto Serif" pitchFamily="34" charset="-120"/>
              </a:rPr>
              <a:t>P-values, Odds Ratios, Confidence Intervals</a:t>
            </a:r>
            <a:endParaRPr lang="en-US" sz="1750" dirty="0"/>
          </a:p>
        </p:txBody>
      </p:sp>
      <p:sp>
        <p:nvSpPr>
          <p:cNvPr id="7" name="Text 5"/>
          <p:cNvSpPr/>
          <p:nvPr/>
        </p:nvSpPr>
        <p:spPr>
          <a:xfrm>
            <a:off x="7599521" y="215765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Prediction Modeling</a:t>
            </a:r>
            <a:endParaRPr lang="en-US" sz="2650" dirty="0"/>
          </a:p>
        </p:txBody>
      </p:sp>
      <p:sp>
        <p:nvSpPr>
          <p:cNvPr id="8" name="Text 6"/>
          <p:cNvSpPr/>
          <p:nvPr/>
        </p:nvSpPr>
        <p:spPr>
          <a:xfrm>
            <a:off x="7599521" y="2809756"/>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Research Question:</a:t>
            </a:r>
            <a:r>
              <a:rPr lang="en-US" sz="1750" dirty="0">
                <a:solidFill>
                  <a:srgbClr val="585E60"/>
                </a:solidFill>
                <a:latin typeface="Noto Serif" pitchFamily="34" charset="0"/>
                <a:ea typeface="Noto Serif" pitchFamily="34" charset="-122"/>
                <a:cs typeface="Noto Serif" pitchFamily="34" charset="-120"/>
              </a:rPr>
              <a:t>"What is this specific patient's risk of disease Y?"</a:t>
            </a:r>
            <a:endParaRPr lang="en-US" sz="1750" dirty="0"/>
          </a:p>
        </p:txBody>
      </p:sp>
      <p:sp>
        <p:nvSpPr>
          <p:cNvPr id="9" name="Text 7"/>
          <p:cNvSpPr/>
          <p:nvPr/>
        </p:nvSpPr>
        <p:spPr>
          <a:xfrm>
            <a:off x="7599521" y="3739634"/>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Primary Goal:</a:t>
            </a:r>
            <a:r>
              <a:rPr lang="en-US" sz="1750" dirty="0">
                <a:solidFill>
                  <a:srgbClr val="585E60"/>
                </a:solidFill>
                <a:latin typeface="Noto Serif" pitchFamily="34" charset="0"/>
                <a:ea typeface="Noto Serif" pitchFamily="34" charset="-122"/>
                <a:cs typeface="Noto Serif" pitchFamily="34" charset="-120"/>
              </a:rPr>
              <a:t>Accurate risk stratification and clinical decision support</a:t>
            </a:r>
            <a:endParaRPr lang="en-US" sz="1750" dirty="0"/>
          </a:p>
        </p:txBody>
      </p:sp>
      <p:sp>
        <p:nvSpPr>
          <p:cNvPr id="10" name="Text 8"/>
          <p:cNvSpPr/>
          <p:nvPr/>
        </p:nvSpPr>
        <p:spPr>
          <a:xfrm>
            <a:off x="7599521" y="4669512"/>
            <a:ext cx="6244709" cy="725805"/>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Key Metrics:</a:t>
            </a:r>
            <a:r>
              <a:rPr lang="en-US" sz="1750" dirty="0">
                <a:solidFill>
                  <a:srgbClr val="585E60"/>
                </a:solidFill>
                <a:latin typeface="Noto Serif" pitchFamily="34" charset="0"/>
                <a:ea typeface="Noto Serif" pitchFamily="34" charset="-122"/>
                <a:cs typeface="Noto Serif" pitchFamily="34" charset="-120"/>
              </a:rPr>
              <a:t>Accuracy, AUC, Calibration, PPV/NPV, NRI</a:t>
            </a:r>
            <a:endParaRPr lang="en-US" sz="1750" dirty="0"/>
          </a:p>
        </p:txBody>
      </p:sp>
      <p:sp>
        <p:nvSpPr>
          <p:cNvPr id="11" name="Shape 9"/>
          <p:cNvSpPr/>
          <p:nvPr/>
        </p:nvSpPr>
        <p:spPr>
          <a:xfrm>
            <a:off x="793790" y="5967922"/>
            <a:ext cx="13042821" cy="35957"/>
          </a:xfrm>
          <a:prstGeom prst="rect">
            <a:avLst/>
          </a:prstGeom>
          <a:solidFill>
            <a:srgbClr val="585E60">
              <a:alpha val="50000"/>
            </a:srgbClr>
          </a:solidFill>
          <a:ln/>
        </p:spPr>
        <p:txBody>
          <a:bodyPr/>
          <a:lstStyle/>
          <a:p>
            <a:endParaRPr lang="en-US"/>
          </a:p>
        </p:txBody>
      </p:sp>
      <p:sp>
        <p:nvSpPr>
          <p:cNvPr id="12" name="Text 10"/>
          <p:cNvSpPr/>
          <p:nvPr/>
        </p:nvSpPr>
        <p:spPr>
          <a:xfrm>
            <a:off x="793790" y="6258997"/>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Today's data landscape is extraordinarily complex: EHR systems, multi-omics platforms, natural language processing, and advanced imaging all generate massive datasets. Our thesis: </a:t>
            </a:r>
            <a:r>
              <a:rPr lang="en-US" sz="1750" b="1" dirty="0">
                <a:solidFill>
                  <a:srgbClr val="585E60"/>
                </a:solidFill>
                <a:latin typeface="Noto Serif" pitchFamily="34" charset="0"/>
                <a:ea typeface="Noto Serif" pitchFamily="34" charset="-122"/>
                <a:cs typeface="Noto Serif" pitchFamily="34" charset="-120"/>
              </a:rPr>
              <a:t>The most powerful models integrate AI innovation with biostatistical rigor</a:t>
            </a:r>
            <a:r>
              <a:rPr lang="en-US" sz="1750" dirty="0">
                <a:solidFill>
                  <a:srgbClr val="585E60"/>
                </a:solidFill>
                <a:latin typeface="Noto Serif" pitchFamily="34" charset="0"/>
                <a:ea typeface="Noto Serif" pitchFamily="34" charset="-122"/>
                <a:cs typeface="Noto Serif" pitchFamily="34" charset="-120"/>
              </a:rPr>
              <a:t>, rather than relying on either approach alone.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24299" y="2067464"/>
            <a:ext cx="5596708" cy="4099592"/>
          </a:xfrm>
          <a:prstGeom prst="rect">
            <a:avLst/>
          </a:prstGeom>
        </p:spPr>
      </p:pic>
      <p:sp>
        <p:nvSpPr>
          <p:cNvPr id="3" name="Text 0"/>
          <p:cNvSpPr/>
          <p:nvPr/>
        </p:nvSpPr>
        <p:spPr>
          <a:xfrm>
            <a:off x="6279475" y="624007"/>
            <a:ext cx="7557849" cy="1132999"/>
          </a:xfrm>
          <a:prstGeom prst="rect">
            <a:avLst/>
          </a:prstGeom>
          <a:noFill/>
          <a:ln/>
        </p:spPr>
        <p:txBody>
          <a:bodyPr wrap="square" lIns="0" tIns="0" rIns="0" bIns="0" rtlCol="0" anchor="t"/>
          <a:lstStyle/>
          <a:p>
            <a:pPr marL="0" indent="0" algn="l">
              <a:lnSpc>
                <a:spcPts val="4450"/>
              </a:lnSpc>
              <a:buNone/>
            </a:pPr>
            <a:r>
              <a:rPr lang="en-US" sz="3550" dirty="0">
                <a:solidFill>
                  <a:srgbClr val="585E60"/>
                </a:solidFill>
                <a:latin typeface="Noto Sans" pitchFamily="34" charset="0"/>
                <a:ea typeface="Noto Sans" pitchFamily="34" charset="-122"/>
                <a:cs typeface="Noto Sans" pitchFamily="34" charset="-120"/>
              </a:rPr>
              <a:t>The Evolving Synergy: Biostatistics Meets AI</a:t>
            </a:r>
            <a:endParaRPr lang="en-US" sz="3550" dirty="0"/>
          </a:p>
        </p:txBody>
      </p:sp>
      <p:sp>
        <p:nvSpPr>
          <p:cNvPr id="4" name="Shape 1"/>
          <p:cNvSpPr/>
          <p:nvPr/>
        </p:nvSpPr>
        <p:spPr>
          <a:xfrm>
            <a:off x="6279475" y="2028944"/>
            <a:ext cx="7557849" cy="1380053"/>
          </a:xfrm>
          <a:prstGeom prst="roundRect">
            <a:avLst>
              <a:gd name="adj" fmla="val 5517"/>
            </a:avLst>
          </a:prstGeom>
          <a:solidFill>
            <a:srgbClr val="FFFFFF"/>
          </a:solidFill>
          <a:ln w="22860">
            <a:solidFill>
              <a:srgbClr val="BFCDD8"/>
            </a:solidFill>
            <a:prstDash val="solid"/>
          </a:ln>
        </p:spPr>
        <p:txBody>
          <a:bodyPr/>
          <a:lstStyle/>
          <a:p>
            <a:endParaRPr lang="en-US"/>
          </a:p>
        </p:txBody>
      </p:sp>
      <p:sp>
        <p:nvSpPr>
          <p:cNvPr id="5" name="Shape 2"/>
          <p:cNvSpPr/>
          <p:nvPr/>
        </p:nvSpPr>
        <p:spPr>
          <a:xfrm>
            <a:off x="6302335" y="2051804"/>
            <a:ext cx="725091" cy="1334333"/>
          </a:xfrm>
          <a:prstGeom prst="roundRect">
            <a:avLst>
              <a:gd name="adj" fmla="val 6718"/>
            </a:avLst>
          </a:prstGeom>
          <a:solidFill>
            <a:srgbClr val="D9E7F2"/>
          </a:solidFill>
          <a:ln/>
        </p:spPr>
        <p:txBody>
          <a:bodyPr/>
          <a:lstStyle/>
          <a:p>
            <a:endParaRPr lang="en-US"/>
          </a:p>
        </p:txBody>
      </p:sp>
      <p:sp>
        <p:nvSpPr>
          <p:cNvPr id="6" name="Text 3"/>
          <p:cNvSpPr/>
          <p:nvPr/>
        </p:nvSpPr>
        <p:spPr>
          <a:xfrm>
            <a:off x="6525101" y="2549009"/>
            <a:ext cx="271939" cy="339923"/>
          </a:xfrm>
          <a:prstGeom prst="rect">
            <a:avLst/>
          </a:prstGeom>
          <a:noFill/>
          <a:ln/>
        </p:spPr>
        <p:txBody>
          <a:bodyPr wrap="none" lIns="0" tIns="0" rIns="0" bIns="0" rtlCol="0" anchor="t"/>
          <a:lstStyle/>
          <a:p>
            <a:pPr marL="0" indent="0" algn="l">
              <a:lnSpc>
                <a:spcPts val="2100"/>
              </a:lnSpc>
              <a:buNone/>
            </a:pPr>
            <a:r>
              <a:rPr lang="en-US" sz="2100" dirty="0">
                <a:solidFill>
                  <a:srgbClr val="585E60"/>
                </a:solidFill>
                <a:latin typeface="Noto Sans" pitchFamily="34" charset="0"/>
                <a:ea typeface="Noto Sans" pitchFamily="34" charset="-122"/>
                <a:cs typeface="Noto Sans" pitchFamily="34" charset="-120"/>
              </a:rPr>
              <a:t>1</a:t>
            </a:r>
            <a:endParaRPr lang="en-US" sz="2100" dirty="0"/>
          </a:p>
        </p:txBody>
      </p:sp>
      <p:sp>
        <p:nvSpPr>
          <p:cNvPr id="7" name="Text 4"/>
          <p:cNvSpPr/>
          <p:nvPr/>
        </p:nvSpPr>
        <p:spPr>
          <a:xfrm>
            <a:off x="7208639" y="2233017"/>
            <a:ext cx="2542699" cy="283131"/>
          </a:xfrm>
          <a:prstGeom prst="rect">
            <a:avLst/>
          </a:prstGeom>
          <a:noFill/>
          <a:ln/>
        </p:spPr>
        <p:txBody>
          <a:bodyPr wrap="none" lIns="0" tIns="0" rIns="0" bIns="0" rtlCol="0" anchor="t"/>
          <a:lstStyle/>
          <a:p>
            <a:pPr marL="0" indent="0" algn="l">
              <a:lnSpc>
                <a:spcPts val="2200"/>
              </a:lnSpc>
              <a:buNone/>
            </a:pPr>
            <a:r>
              <a:rPr lang="en-US" sz="1750" dirty="0">
                <a:solidFill>
                  <a:srgbClr val="585E60"/>
                </a:solidFill>
                <a:latin typeface="Noto Sans" pitchFamily="34" charset="0"/>
                <a:ea typeface="Noto Sans" pitchFamily="34" charset="-122"/>
                <a:cs typeface="Noto Sans" pitchFamily="34" charset="-120"/>
              </a:rPr>
              <a:t>Biostatistics Foundation</a:t>
            </a:r>
            <a:endParaRPr lang="en-US" sz="1750" dirty="0"/>
          </a:p>
        </p:txBody>
      </p:sp>
      <p:sp>
        <p:nvSpPr>
          <p:cNvPr id="8" name="Text 5"/>
          <p:cNvSpPr/>
          <p:nvPr/>
        </p:nvSpPr>
        <p:spPr>
          <a:xfrm>
            <a:off x="7208639" y="2624852"/>
            <a:ext cx="6424612" cy="580073"/>
          </a:xfrm>
          <a:prstGeom prst="rect">
            <a:avLst/>
          </a:prstGeom>
          <a:noFill/>
          <a:ln/>
        </p:spPr>
        <p:txBody>
          <a:bodyPr wrap="square" lIns="0" tIns="0" rIns="0" bIns="0" rtlCol="0" anchor="t"/>
          <a:lstStyle/>
          <a:p>
            <a:pPr marL="0" indent="0" algn="l">
              <a:lnSpc>
                <a:spcPts val="2250"/>
              </a:lnSpc>
              <a:buNone/>
            </a:pPr>
            <a:r>
              <a:rPr lang="en-US" sz="1400" dirty="0">
                <a:solidFill>
                  <a:srgbClr val="585E60"/>
                </a:solidFill>
                <a:latin typeface="Noto Serif" pitchFamily="34" charset="0"/>
                <a:ea typeface="Noto Serif" pitchFamily="34" charset="-122"/>
                <a:cs typeface="Noto Serif" pitchFamily="34" charset="-120"/>
              </a:rPr>
              <a:t>Provided a rigorous foundation for medical research, focusing on causal inference, hypothesis testing, and understanding disease mechanisms.</a:t>
            </a:r>
            <a:endParaRPr lang="en-US" sz="1400" dirty="0"/>
          </a:p>
        </p:txBody>
      </p:sp>
      <p:sp>
        <p:nvSpPr>
          <p:cNvPr id="9" name="Shape 6"/>
          <p:cNvSpPr/>
          <p:nvPr/>
        </p:nvSpPr>
        <p:spPr>
          <a:xfrm>
            <a:off x="6279475" y="3590211"/>
            <a:ext cx="7557849" cy="1380053"/>
          </a:xfrm>
          <a:prstGeom prst="roundRect">
            <a:avLst>
              <a:gd name="adj" fmla="val 5517"/>
            </a:avLst>
          </a:prstGeom>
          <a:solidFill>
            <a:srgbClr val="FFFFFF"/>
          </a:solidFill>
          <a:ln w="22860">
            <a:solidFill>
              <a:srgbClr val="BFCDD8"/>
            </a:solidFill>
            <a:prstDash val="solid"/>
          </a:ln>
        </p:spPr>
        <p:txBody>
          <a:bodyPr/>
          <a:lstStyle/>
          <a:p>
            <a:endParaRPr lang="en-US"/>
          </a:p>
        </p:txBody>
      </p:sp>
      <p:sp>
        <p:nvSpPr>
          <p:cNvPr id="10" name="Shape 7"/>
          <p:cNvSpPr/>
          <p:nvPr/>
        </p:nvSpPr>
        <p:spPr>
          <a:xfrm>
            <a:off x="6302335" y="3613071"/>
            <a:ext cx="725091" cy="1334333"/>
          </a:xfrm>
          <a:prstGeom prst="roundRect">
            <a:avLst>
              <a:gd name="adj" fmla="val 6718"/>
            </a:avLst>
          </a:prstGeom>
          <a:solidFill>
            <a:srgbClr val="D9E7F2"/>
          </a:solidFill>
          <a:ln/>
        </p:spPr>
        <p:txBody>
          <a:bodyPr/>
          <a:lstStyle/>
          <a:p>
            <a:endParaRPr lang="en-US"/>
          </a:p>
        </p:txBody>
      </p:sp>
      <p:sp>
        <p:nvSpPr>
          <p:cNvPr id="11" name="Text 8"/>
          <p:cNvSpPr/>
          <p:nvPr/>
        </p:nvSpPr>
        <p:spPr>
          <a:xfrm>
            <a:off x="6525101" y="4110276"/>
            <a:ext cx="271939" cy="339923"/>
          </a:xfrm>
          <a:prstGeom prst="rect">
            <a:avLst/>
          </a:prstGeom>
          <a:noFill/>
          <a:ln/>
        </p:spPr>
        <p:txBody>
          <a:bodyPr wrap="none" lIns="0" tIns="0" rIns="0" bIns="0" rtlCol="0" anchor="t"/>
          <a:lstStyle/>
          <a:p>
            <a:pPr marL="0" indent="0" algn="l">
              <a:lnSpc>
                <a:spcPts val="2100"/>
              </a:lnSpc>
              <a:buNone/>
            </a:pPr>
            <a:r>
              <a:rPr lang="en-US" sz="2100" dirty="0">
                <a:solidFill>
                  <a:srgbClr val="585E60"/>
                </a:solidFill>
                <a:latin typeface="Noto Sans" pitchFamily="34" charset="0"/>
                <a:ea typeface="Noto Sans" pitchFamily="34" charset="-122"/>
                <a:cs typeface="Noto Sans" pitchFamily="34" charset="-120"/>
              </a:rPr>
              <a:t>2</a:t>
            </a:r>
            <a:endParaRPr lang="en-US" sz="2100" dirty="0"/>
          </a:p>
        </p:txBody>
      </p:sp>
      <p:sp>
        <p:nvSpPr>
          <p:cNvPr id="12" name="Text 9"/>
          <p:cNvSpPr/>
          <p:nvPr/>
        </p:nvSpPr>
        <p:spPr>
          <a:xfrm>
            <a:off x="7208639" y="3794284"/>
            <a:ext cx="2379464" cy="283131"/>
          </a:xfrm>
          <a:prstGeom prst="rect">
            <a:avLst/>
          </a:prstGeom>
          <a:noFill/>
          <a:ln/>
        </p:spPr>
        <p:txBody>
          <a:bodyPr wrap="none" lIns="0" tIns="0" rIns="0" bIns="0" rtlCol="0" anchor="t"/>
          <a:lstStyle/>
          <a:p>
            <a:pPr marL="0" indent="0" algn="l">
              <a:lnSpc>
                <a:spcPts val="2200"/>
              </a:lnSpc>
              <a:buNone/>
            </a:pPr>
            <a:r>
              <a:rPr lang="en-US" sz="1750" dirty="0">
                <a:solidFill>
                  <a:srgbClr val="585E60"/>
                </a:solidFill>
                <a:latin typeface="Noto Sans" pitchFamily="34" charset="0"/>
                <a:ea typeface="Noto Sans" pitchFamily="34" charset="-122"/>
                <a:cs typeface="Noto Sans" pitchFamily="34" charset="-120"/>
              </a:rPr>
              <a:t>AI's Rise &amp; Capabilities</a:t>
            </a:r>
            <a:endParaRPr lang="en-US" sz="1750" dirty="0"/>
          </a:p>
        </p:txBody>
      </p:sp>
      <p:sp>
        <p:nvSpPr>
          <p:cNvPr id="13" name="Text 10"/>
          <p:cNvSpPr/>
          <p:nvPr/>
        </p:nvSpPr>
        <p:spPr>
          <a:xfrm>
            <a:off x="7208639" y="4186118"/>
            <a:ext cx="6424612" cy="580073"/>
          </a:xfrm>
          <a:prstGeom prst="rect">
            <a:avLst/>
          </a:prstGeom>
          <a:noFill/>
          <a:ln/>
        </p:spPr>
        <p:txBody>
          <a:bodyPr wrap="square" lIns="0" tIns="0" rIns="0" bIns="0" rtlCol="0" anchor="t"/>
          <a:lstStyle/>
          <a:p>
            <a:pPr marL="0" indent="0" algn="l">
              <a:lnSpc>
                <a:spcPts val="2250"/>
              </a:lnSpc>
              <a:buNone/>
            </a:pPr>
            <a:r>
              <a:rPr lang="en-US" sz="1400" dirty="0">
                <a:solidFill>
                  <a:srgbClr val="585E60"/>
                </a:solidFill>
                <a:latin typeface="Noto Serif" pitchFamily="34" charset="0"/>
                <a:ea typeface="Noto Serif" pitchFamily="34" charset="-122"/>
                <a:cs typeface="Noto Serif" pitchFamily="34" charset="-120"/>
              </a:rPr>
              <a:t>Emergence grew with data volume and computational power, excelling in pattern recognition, predictive modeling, and complex data integration.</a:t>
            </a:r>
            <a:endParaRPr lang="en-US" sz="1400" dirty="0"/>
          </a:p>
        </p:txBody>
      </p:sp>
      <p:sp>
        <p:nvSpPr>
          <p:cNvPr id="14" name="Shape 11"/>
          <p:cNvSpPr/>
          <p:nvPr/>
        </p:nvSpPr>
        <p:spPr>
          <a:xfrm>
            <a:off x="6279475" y="5151477"/>
            <a:ext cx="7557849" cy="1670090"/>
          </a:xfrm>
          <a:prstGeom prst="roundRect">
            <a:avLst>
              <a:gd name="adj" fmla="val 4559"/>
            </a:avLst>
          </a:prstGeom>
          <a:solidFill>
            <a:srgbClr val="FFFFFF"/>
          </a:solidFill>
          <a:ln w="22860">
            <a:solidFill>
              <a:srgbClr val="BFCDD8"/>
            </a:solidFill>
            <a:prstDash val="solid"/>
          </a:ln>
        </p:spPr>
        <p:txBody>
          <a:bodyPr/>
          <a:lstStyle/>
          <a:p>
            <a:endParaRPr lang="en-US"/>
          </a:p>
        </p:txBody>
      </p:sp>
      <p:sp>
        <p:nvSpPr>
          <p:cNvPr id="15" name="Shape 12"/>
          <p:cNvSpPr/>
          <p:nvPr/>
        </p:nvSpPr>
        <p:spPr>
          <a:xfrm>
            <a:off x="6302335" y="5174337"/>
            <a:ext cx="725091" cy="1624370"/>
          </a:xfrm>
          <a:prstGeom prst="roundRect">
            <a:avLst>
              <a:gd name="adj" fmla="val 6718"/>
            </a:avLst>
          </a:prstGeom>
          <a:solidFill>
            <a:srgbClr val="D9E7F2"/>
          </a:solidFill>
          <a:ln/>
        </p:spPr>
        <p:txBody>
          <a:bodyPr/>
          <a:lstStyle/>
          <a:p>
            <a:endParaRPr lang="en-US"/>
          </a:p>
        </p:txBody>
      </p:sp>
      <p:sp>
        <p:nvSpPr>
          <p:cNvPr id="16" name="Text 13"/>
          <p:cNvSpPr/>
          <p:nvPr/>
        </p:nvSpPr>
        <p:spPr>
          <a:xfrm>
            <a:off x="6525101" y="5816560"/>
            <a:ext cx="271939" cy="339923"/>
          </a:xfrm>
          <a:prstGeom prst="rect">
            <a:avLst/>
          </a:prstGeom>
          <a:noFill/>
          <a:ln/>
        </p:spPr>
        <p:txBody>
          <a:bodyPr wrap="none" lIns="0" tIns="0" rIns="0" bIns="0" rtlCol="0" anchor="t"/>
          <a:lstStyle/>
          <a:p>
            <a:pPr marL="0" indent="0" algn="l">
              <a:lnSpc>
                <a:spcPts val="2100"/>
              </a:lnSpc>
              <a:buNone/>
            </a:pPr>
            <a:r>
              <a:rPr lang="en-US" sz="2100" dirty="0">
                <a:solidFill>
                  <a:srgbClr val="585E60"/>
                </a:solidFill>
                <a:latin typeface="Noto Sans" pitchFamily="34" charset="0"/>
                <a:ea typeface="Noto Sans" pitchFamily="34" charset="-122"/>
                <a:cs typeface="Noto Sans" pitchFamily="34" charset="-120"/>
              </a:rPr>
              <a:t>3</a:t>
            </a:r>
            <a:endParaRPr lang="en-US" sz="2100" dirty="0"/>
          </a:p>
        </p:txBody>
      </p:sp>
      <p:sp>
        <p:nvSpPr>
          <p:cNvPr id="17" name="Text 14"/>
          <p:cNvSpPr/>
          <p:nvPr/>
        </p:nvSpPr>
        <p:spPr>
          <a:xfrm>
            <a:off x="7208639" y="5355550"/>
            <a:ext cx="2266117" cy="283131"/>
          </a:xfrm>
          <a:prstGeom prst="rect">
            <a:avLst/>
          </a:prstGeom>
          <a:noFill/>
          <a:ln/>
        </p:spPr>
        <p:txBody>
          <a:bodyPr wrap="none" lIns="0" tIns="0" rIns="0" bIns="0" rtlCol="0" anchor="t"/>
          <a:lstStyle/>
          <a:p>
            <a:pPr marL="0" indent="0" algn="l">
              <a:lnSpc>
                <a:spcPts val="2200"/>
              </a:lnSpc>
              <a:buNone/>
            </a:pPr>
            <a:r>
              <a:rPr lang="en-US" sz="1750" dirty="0">
                <a:solidFill>
                  <a:srgbClr val="585E60"/>
                </a:solidFill>
                <a:latin typeface="Noto Sans" pitchFamily="34" charset="0"/>
                <a:ea typeface="Noto Sans" pitchFamily="34" charset="-122"/>
                <a:cs typeface="Noto Sans" pitchFamily="34" charset="-120"/>
              </a:rPr>
              <a:t>Synergistic Impact</a:t>
            </a:r>
            <a:endParaRPr lang="en-US" sz="1750" dirty="0"/>
          </a:p>
        </p:txBody>
      </p:sp>
      <p:sp>
        <p:nvSpPr>
          <p:cNvPr id="18" name="Text 15"/>
          <p:cNvSpPr/>
          <p:nvPr/>
        </p:nvSpPr>
        <p:spPr>
          <a:xfrm>
            <a:off x="7208639" y="5747385"/>
            <a:ext cx="6424612" cy="870109"/>
          </a:xfrm>
          <a:prstGeom prst="rect">
            <a:avLst/>
          </a:prstGeom>
          <a:noFill/>
          <a:ln/>
        </p:spPr>
        <p:txBody>
          <a:bodyPr wrap="square" lIns="0" tIns="0" rIns="0" bIns="0" rtlCol="0" anchor="t"/>
          <a:lstStyle/>
          <a:p>
            <a:pPr marL="0" indent="0" algn="l">
              <a:lnSpc>
                <a:spcPts val="2250"/>
              </a:lnSpc>
              <a:buNone/>
            </a:pPr>
            <a:r>
              <a:rPr lang="en-US" sz="1400" dirty="0">
                <a:solidFill>
                  <a:srgbClr val="585E60"/>
                </a:solidFill>
                <a:latin typeface="Noto Serif" pitchFamily="34" charset="0"/>
                <a:ea typeface="Noto Serif" pitchFamily="34" charset="-122"/>
                <a:cs typeface="Noto Serif" pitchFamily="34" charset="-120"/>
              </a:rPr>
              <a:t>Integrating biostatistics' rigor with AI's predictive power yields impactful advancements, leading to more comprehensive, reliable, and clinically actionable health insights.</a:t>
            </a:r>
            <a:endParaRPr lang="en-US" sz="1400" dirty="0"/>
          </a:p>
        </p:txBody>
      </p:sp>
      <p:sp>
        <p:nvSpPr>
          <p:cNvPr id="19" name="Text 16"/>
          <p:cNvSpPr/>
          <p:nvPr/>
        </p:nvSpPr>
        <p:spPr>
          <a:xfrm>
            <a:off x="6279475" y="7025521"/>
            <a:ext cx="7557849" cy="580073"/>
          </a:xfrm>
          <a:prstGeom prst="rect">
            <a:avLst/>
          </a:prstGeom>
          <a:noFill/>
          <a:ln/>
        </p:spPr>
        <p:txBody>
          <a:bodyPr wrap="square" lIns="0" tIns="0" rIns="0" bIns="0" rtlCol="0" anchor="t"/>
          <a:lstStyle/>
          <a:p>
            <a:pPr marL="0" indent="0" algn="l">
              <a:lnSpc>
                <a:spcPts val="2250"/>
              </a:lnSpc>
              <a:buNone/>
            </a:pPr>
            <a:r>
              <a:rPr lang="en-US" sz="1400" i="1" dirty="0">
                <a:solidFill>
                  <a:srgbClr val="585E60"/>
                </a:solidFill>
                <a:latin typeface="Noto Serif" pitchFamily="34" charset="0"/>
                <a:ea typeface="Noto Serif" pitchFamily="34" charset="-122"/>
                <a:cs typeface="Noto Serif" pitchFamily="34" charset="-120"/>
              </a:rPr>
              <a:t>Alowais et al. Revolutionizing healthcare: the role of artificial intelligence in clinical practice. BMC Medical Education, 2023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0932" y="621387"/>
            <a:ext cx="11151037" cy="706160"/>
          </a:xfrm>
          <a:prstGeom prst="rect">
            <a:avLst/>
          </a:prstGeom>
          <a:noFill/>
          <a:ln/>
        </p:spPr>
        <p:txBody>
          <a:bodyPr wrap="none" lIns="0" tIns="0" rIns="0" bIns="0" rtlCol="0" anchor="t"/>
          <a:lstStyle/>
          <a:p>
            <a:pPr marL="0" indent="0" algn="l">
              <a:lnSpc>
                <a:spcPts val="5550"/>
              </a:lnSpc>
              <a:buNone/>
            </a:pPr>
            <a:r>
              <a:rPr lang="en-US" sz="4400" dirty="0">
                <a:solidFill>
                  <a:srgbClr val="585E60"/>
                </a:solidFill>
                <a:latin typeface="Noto Sans" pitchFamily="34" charset="0"/>
                <a:ea typeface="Noto Sans" pitchFamily="34" charset="-122"/>
                <a:cs typeface="Noto Sans" pitchFamily="34" charset="-120"/>
              </a:rPr>
              <a:t>Challenge #1: Defining Reliable Outcomes</a:t>
            </a:r>
            <a:endParaRPr lang="en-US" sz="4400" dirty="0"/>
          </a:p>
        </p:txBody>
      </p:sp>
      <p:sp>
        <p:nvSpPr>
          <p:cNvPr id="3" name="Text 1"/>
          <p:cNvSpPr/>
          <p:nvPr/>
        </p:nvSpPr>
        <p:spPr>
          <a:xfrm>
            <a:off x="790932" y="1779508"/>
            <a:ext cx="13048536" cy="361474"/>
          </a:xfrm>
          <a:prstGeom prst="rect">
            <a:avLst/>
          </a:prstGeom>
          <a:noFill/>
          <a:ln/>
        </p:spPr>
        <p:txBody>
          <a:bodyPr wrap="none" lIns="0" tIns="0" rIns="0" bIns="0" rtlCol="0" anchor="t"/>
          <a:lstStyle/>
          <a:p>
            <a:pPr marL="0" indent="0" algn="l">
              <a:lnSpc>
                <a:spcPts val="2800"/>
              </a:lnSpc>
              <a:buNone/>
            </a:pPr>
            <a:r>
              <a:rPr lang="en-US" sz="1750" dirty="0">
                <a:solidFill>
                  <a:srgbClr val="585E60"/>
                </a:solidFill>
                <a:latin typeface="Noto Serif" pitchFamily="34" charset="0"/>
                <a:ea typeface="Noto Serif" pitchFamily="34" charset="-122"/>
                <a:cs typeface="Noto Serif" pitchFamily="34" charset="-120"/>
              </a:rPr>
              <a:t>Before building prediction models, we must establish trustworthy outcome labels.</a:t>
            </a:r>
            <a:endParaRPr lang="en-US" sz="1750" dirty="0"/>
          </a:p>
        </p:txBody>
      </p:sp>
      <p:pic>
        <p:nvPicPr>
          <p:cNvPr id="4" name="Image 0" descr="preencoded.png"/>
          <p:cNvPicPr>
            <a:picLocks noChangeAspect="1"/>
          </p:cNvPicPr>
          <p:nvPr/>
        </p:nvPicPr>
        <p:blipFill>
          <a:blip r:embed="rId3"/>
          <a:stretch>
            <a:fillRect/>
          </a:stretch>
        </p:blipFill>
        <p:spPr>
          <a:xfrm>
            <a:off x="790932" y="2395180"/>
            <a:ext cx="4161234" cy="2571750"/>
          </a:xfrm>
          <a:prstGeom prst="rect">
            <a:avLst/>
          </a:prstGeom>
        </p:spPr>
      </p:pic>
      <p:sp>
        <p:nvSpPr>
          <p:cNvPr id="5" name="Text 2"/>
          <p:cNvSpPr/>
          <p:nvPr/>
        </p:nvSpPr>
        <p:spPr>
          <a:xfrm>
            <a:off x="790932" y="5192911"/>
            <a:ext cx="4161234" cy="1807369"/>
          </a:xfrm>
          <a:prstGeom prst="rect">
            <a:avLst/>
          </a:prstGeom>
          <a:noFill/>
          <a:ln/>
        </p:spPr>
        <p:txBody>
          <a:bodyPr wrap="square" lIns="0" tIns="0" rIns="0" bIns="0" rtlCol="0" anchor="t"/>
          <a:lstStyle/>
          <a:p>
            <a:pPr marL="0" indent="0" algn="l">
              <a:lnSpc>
                <a:spcPts val="2800"/>
              </a:lnSpc>
              <a:buNone/>
            </a:pPr>
            <a:r>
              <a:rPr lang="en-US" sz="1750" dirty="0">
                <a:solidFill>
                  <a:srgbClr val="585E60"/>
                </a:solidFill>
                <a:latin typeface="Noto Serif" pitchFamily="34" charset="0"/>
                <a:ea typeface="Noto Serif" pitchFamily="34" charset="-122"/>
                <a:cs typeface="Noto Serif" pitchFamily="34" charset="-120"/>
              </a:rPr>
              <a:t>Phenotypes derived from </a:t>
            </a:r>
            <a:r>
              <a:rPr lang="en-US" sz="1750" b="1" dirty="0">
                <a:solidFill>
                  <a:srgbClr val="585E60"/>
                </a:solidFill>
                <a:latin typeface="Noto Serif" pitchFamily="34" charset="0"/>
                <a:ea typeface="Noto Serif" pitchFamily="34" charset="-122"/>
                <a:cs typeface="Noto Serif" pitchFamily="34" charset="-120"/>
              </a:rPr>
              <a:t>insurance billing codes</a:t>
            </a:r>
            <a:r>
              <a:rPr lang="en-US" sz="1750" dirty="0">
                <a:solidFill>
                  <a:srgbClr val="585E60"/>
                </a:solidFill>
                <a:latin typeface="Noto Serif" pitchFamily="34" charset="0"/>
                <a:ea typeface="Noto Serif" pitchFamily="34" charset="-122"/>
                <a:cs typeface="Noto Serif" pitchFamily="34" charset="-120"/>
              </a:rPr>
              <a:t> often lack the precision needed for robust outcome definition, introducing measurement error and bias into prediction models.</a:t>
            </a:r>
            <a:endParaRPr lang="en-US" sz="1750" dirty="0"/>
          </a:p>
        </p:txBody>
      </p:sp>
      <p:pic>
        <p:nvPicPr>
          <p:cNvPr id="6" name="Image 1" descr="preencoded.png"/>
          <p:cNvPicPr>
            <a:picLocks noChangeAspect="1"/>
          </p:cNvPicPr>
          <p:nvPr/>
        </p:nvPicPr>
        <p:blipFill>
          <a:blip r:embed="rId4"/>
          <a:stretch>
            <a:fillRect/>
          </a:stretch>
        </p:blipFill>
        <p:spPr>
          <a:xfrm>
            <a:off x="5234583" y="2395180"/>
            <a:ext cx="4161234" cy="2571750"/>
          </a:xfrm>
          <a:prstGeom prst="rect">
            <a:avLst/>
          </a:prstGeom>
        </p:spPr>
      </p:pic>
      <p:sp>
        <p:nvSpPr>
          <p:cNvPr id="7" name="Text 3"/>
          <p:cNvSpPr/>
          <p:nvPr/>
        </p:nvSpPr>
        <p:spPr>
          <a:xfrm>
            <a:off x="5234583" y="5192911"/>
            <a:ext cx="4161234" cy="1807369"/>
          </a:xfrm>
          <a:prstGeom prst="rect">
            <a:avLst/>
          </a:prstGeom>
          <a:noFill/>
          <a:ln/>
        </p:spPr>
        <p:txBody>
          <a:bodyPr wrap="square" lIns="0" tIns="0" rIns="0" bIns="0" rtlCol="0" anchor="t"/>
          <a:lstStyle/>
          <a:p>
            <a:pPr marL="0" indent="0" algn="l">
              <a:lnSpc>
                <a:spcPts val="2800"/>
              </a:lnSpc>
              <a:buNone/>
            </a:pPr>
            <a:r>
              <a:rPr lang="en-US" sz="1750" dirty="0">
                <a:solidFill>
                  <a:srgbClr val="585E60"/>
                </a:solidFill>
                <a:latin typeface="Noto Serif" pitchFamily="34" charset="0"/>
                <a:ea typeface="Noto Serif" pitchFamily="34" charset="-122"/>
                <a:cs typeface="Noto Serif" pitchFamily="34" charset="-120"/>
              </a:rPr>
              <a:t>While a traditional gold standard, </a:t>
            </a:r>
            <a:r>
              <a:rPr lang="en-US" sz="1750" b="1" dirty="0">
                <a:solidFill>
                  <a:srgbClr val="585E60"/>
                </a:solidFill>
                <a:latin typeface="Noto Serif" pitchFamily="34" charset="0"/>
                <a:ea typeface="Noto Serif" pitchFamily="34" charset="-122"/>
                <a:cs typeface="Noto Serif" pitchFamily="34" charset="-120"/>
              </a:rPr>
              <a:t>manual chart review </a:t>
            </a:r>
            <a:r>
              <a:rPr lang="en-US" sz="1750" dirty="0">
                <a:solidFill>
                  <a:srgbClr val="585E60"/>
                </a:solidFill>
                <a:latin typeface="Noto Serif" pitchFamily="34" charset="0"/>
                <a:ea typeface="Noto Serif" pitchFamily="34" charset="-122"/>
                <a:cs typeface="Noto Serif" pitchFamily="34" charset="-120"/>
              </a:rPr>
              <a:t>is a labor-intensive process, creating a significant bottleneck that hinders research scalability and efficiency.</a:t>
            </a:r>
            <a:endParaRPr lang="en-US" sz="1750" dirty="0"/>
          </a:p>
        </p:txBody>
      </p:sp>
      <p:pic>
        <p:nvPicPr>
          <p:cNvPr id="8" name="Image 2" descr="preencoded.png"/>
          <p:cNvPicPr>
            <a:picLocks noChangeAspect="1"/>
          </p:cNvPicPr>
          <p:nvPr/>
        </p:nvPicPr>
        <p:blipFill>
          <a:blip r:embed="rId5"/>
          <a:stretch>
            <a:fillRect/>
          </a:stretch>
        </p:blipFill>
        <p:spPr>
          <a:xfrm>
            <a:off x="9678233" y="2395180"/>
            <a:ext cx="4161234" cy="2571750"/>
          </a:xfrm>
          <a:prstGeom prst="rect">
            <a:avLst/>
          </a:prstGeom>
        </p:spPr>
      </p:pic>
      <p:sp>
        <p:nvSpPr>
          <p:cNvPr id="9" name="Text 4"/>
          <p:cNvSpPr/>
          <p:nvPr/>
        </p:nvSpPr>
        <p:spPr>
          <a:xfrm>
            <a:off x="9678233" y="5192911"/>
            <a:ext cx="4161234" cy="1807369"/>
          </a:xfrm>
          <a:prstGeom prst="rect">
            <a:avLst/>
          </a:prstGeom>
          <a:noFill/>
          <a:ln/>
        </p:spPr>
        <p:txBody>
          <a:bodyPr wrap="square" lIns="0" tIns="0" rIns="0" bIns="0" rtlCol="0" anchor="t"/>
          <a:lstStyle/>
          <a:p>
            <a:pPr marL="0" indent="0" algn="l">
              <a:lnSpc>
                <a:spcPts val="2800"/>
              </a:lnSpc>
              <a:buNone/>
            </a:pPr>
            <a:r>
              <a:rPr lang="en-US" sz="1750" b="1" dirty="0">
                <a:solidFill>
                  <a:srgbClr val="585E60"/>
                </a:solidFill>
                <a:latin typeface="Noto Serif" pitchFamily="34" charset="0"/>
                <a:ea typeface="Noto Serif" pitchFamily="34" charset="-122"/>
                <a:cs typeface="Noto Serif" pitchFamily="34" charset="-120"/>
              </a:rPr>
              <a:t>Machine learning and advanced statistical methods </a:t>
            </a:r>
            <a:r>
              <a:rPr lang="en-US" sz="1750" dirty="0">
                <a:solidFill>
                  <a:srgbClr val="585E60"/>
                </a:solidFill>
                <a:latin typeface="Noto Serif" pitchFamily="34" charset="0"/>
                <a:ea typeface="Noto Serif" pitchFamily="34" charset="-122"/>
                <a:cs typeface="Noto Serif" pitchFamily="34" charset="-120"/>
              </a:rPr>
              <a:t>offer promising avenues to systematically define and validate reliable outcome labels, overcoming current limitations.</a:t>
            </a:r>
            <a:endParaRPr lang="en-US" sz="1750" dirty="0"/>
          </a:p>
        </p:txBody>
      </p:sp>
      <p:sp>
        <p:nvSpPr>
          <p:cNvPr id="10" name="Text 5"/>
          <p:cNvSpPr/>
          <p:nvPr/>
        </p:nvSpPr>
        <p:spPr>
          <a:xfrm>
            <a:off x="790932" y="7254478"/>
            <a:ext cx="13048536" cy="361474"/>
          </a:xfrm>
          <a:prstGeom prst="rect">
            <a:avLst/>
          </a:prstGeom>
          <a:noFill/>
          <a:ln/>
        </p:spPr>
        <p:txBody>
          <a:bodyPr wrap="none" lIns="0" tIns="0" rIns="0" bIns="0" rtlCol="0" anchor="t"/>
          <a:lstStyle/>
          <a:p>
            <a:pPr marL="0" indent="0" algn="l">
              <a:lnSpc>
                <a:spcPts val="2800"/>
              </a:lnSpc>
              <a:buNone/>
            </a:pPr>
            <a:r>
              <a:rPr lang="en-US" sz="1750" dirty="0">
                <a:solidFill>
                  <a:srgbClr val="585E60"/>
                </a:solidFill>
                <a:latin typeface="Noto Serif" pitchFamily="34" charset="0"/>
                <a:ea typeface="Noto Serif" pitchFamily="34" charset="-122"/>
                <a:cs typeface="Noto Serif" pitchFamily="34" charset="-120"/>
              </a:rPr>
              <a:t>How can these innovative methods help us accurately define what we're trying to predict?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9734" y="573286"/>
            <a:ext cx="12458700" cy="423505"/>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Case Study 1: Phenotyping Bipolar Disorder with Natural Language Processing</a:t>
            </a:r>
            <a:endParaRPr lang="en-US" sz="2650" dirty="0"/>
          </a:p>
        </p:txBody>
      </p:sp>
      <p:pic>
        <p:nvPicPr>
          <p:cNvPr id="3" name="Image 0" descr="preencoded.png"/>
          <p:cNvPicPr>
            <a:picLocks noChangeAspect="1"/>
          </p:cNvPicPr>
          <p:nvPr/>
        </p:nvPicPr>
        <p:blipFill>
          <a:blip r:embed="rId3"/>
          <a:stretch>
            <a:fillRect/>
          </a:stretch>
        </p:blipFill>
        <p:spPr>
          <a:xfrm>
            <a:off x="1976219" y="1049536"/>
            <a:ext cx="4487228" cy="4104060"/>
          </a:xfrm>
          <a:prstGeom prst="rect">
            <a:avLst/>
          </a:prstGeom>
        </p:spPr>
      </p:pic>
      <p:pic>
        <p:nvPicPr>
          <p:cNvPr id="4" name="Image 1" descr="preencoded.png"/>
          <p:cNvPicPr>
            <a:picLocks noChangeAspect="1"/>
          </p:cNvPicPr>
          <p:nvPr/>
        </p:nvPicPr>
        <p:blipFill>
          <a:blip r:embed="rId4"/>
          <a:stretch>
            <a:fillRect/>
          </a:stretch>
        </p:blipFill>
        <p:spPr>
          <a:xfrm>
            <a:off x="7186757" y="1120617"/>
            <a:ext cx="4370971" cy="3993832"/>
          </a:xfrm>
          <a:prstGeom prst="rect">
            <a:avLst/>
          </a:prstGeom>
        </p:spPr>
      </p:pic>
      <p:sp>
        <p:nvSpPr>
          <p:cNvPr id="5" name="Shape 1"/>
          <p:cNvSpPr/>
          <p:nvPr/>
        </p:nvSpPr>
        <p:spPr>
          <a:xfrm>
            <a:off x="729734" y="5313402"/>
            <a:ext cx="13170932" cy="2162175"/>
          </a:xfrm>
          <a:prstGeom prst="roundRect">
            <a:avLst>
              <a:gd name="adj" fmla="val 2832"/>
            </a:avLst>
          </a:prstGeom>
          <a:solidFill>
            <a:srgbClr val="D9E7F2"/>
          </a:solidFill>
          <a:ln w="7620">
            <a:solidFill>
              <a:srgbClr val="BFCDD8"/>
            </a:solidFill>
            <a:prstDash val="solid"/>
          </a:ln>
        </p:spPr>
        <p:txBody>
          <a:bodyPr/>
          <a:lstStyle/>
          <a:p>
            <a:endParaRPr lang="en-US"/>
          </a:p>
        </p:txBody>
      </p:sp>
      <p:sp>
        <p:nvSpPr>
          <p:cNvPr id="6" name="Shape 2"/>
          <p:cNvSpPr/>
          <p:nvPr/>
        </p:nvSpPr>
        <p:spPr>
          <a:xfrm>
            <a:off x="737354" y="5321022"/>
            <a:ext cx="4385191" cy="1213961"/>
          </a:xfrm>
          <a:prstGeom prst="roundRect">
            <a:avLst>
              <a:gd name="adj" fmla="val 4689"/>
            </a:avLst>
          </a:prstGeom>
          <a:solidFill>
            <a:srgbClr val="D9E7F2"/>
          </a:solidFill>
          <a:ln/>
        </p:spPr>
        <p:txBody>
          <a:bodyPr/>
          <a:lstStyle/>
          <a:p>
            <a:endParaRPr lang="en-US"/>
          </a:p>
        </p:txBody>
      </p:sp>
      <p:sp>
        <p:nvSpPr>
          <p:cNvPr id="7" name="Text 3"/>
          <p:cNvSpPr/>
          <p:nvPr/>
        </p:nvSpPr>
        <p:spPr>
          <a:xfrm>
            <a:off x="872847" y="5456515"/>
            <a:ext cx="1694140" cy="211693"/>
          </a:xfrm>
          <a:prstGeom prst="rect">
            <a:avLst/>
          </a:prstGeom>
          <a:noFill/>
          <a:ln/>
        </p:spPr>
        <p:txBody>
          <a:bodyPr wrap="none" lIns="0" tIns="0" rIns="0" bIns="0" rtlCol="0" anchor="t"/>
          <a:lstStyle/>
          <a:p>
            <a:pPr marL="0" indent="0" algn="l">
              <a:lnSpc>
                <a:spcPts val="1650"/>
              </a:lnSpc>
              <a:buNone/>
            </a:pPr>
            <a:r>
              <a:rPr lang="en-US" dirty="0">
                <a:solidFill>
                  <a:srgbClr val="585E60"/>
                </a:solidFill>
                <a:latin typeface="Noto Sans" pitchFamily="34" charset="0"/>
                <a:ea typeface="Noto Sans" pitchFamily="34" charset="-122"/>
                <a:cs typeface="Noto Sans" pitchFamily="34" charset="-120"/>
              </a:rPr>
              <a:t>Research Goal</a:t>
            </a:r>
            <a:endParaRPr lang="en-US" dirty="0"/>
          </a:p>
        </p:txBody>
      </p:sp>
      <p:sp>
        <p:nvSpPr>
          <p:cNvPr id="8" name="Text 4"/>
          <p:cNvSpPr/>
          <p:nvPr/>
        </p:nvSpPr>
        <p:spPr>
          <a:xfrm>
            <a:off x="872847" y="5749409"/>
            <a:ext cx="4114205" cy="433388"/>
          </a:xfrm>
          <a:prstGeom prst="rect">
            <a:avLst/>
          </a:prstGeom>
          <a:noFill/>
          <a:ln/>
        </p:spPr>
        <p:txBody>
          <a:bodyPr wrap="square" lIns="0" tIns="0" rIns="0" bIns="0" rtlCol="0" anchor="t"/>
          <a:lstStyle/>
          <a:p>
            <a:pPr marL="0" indent="0" algn="l">
              <a:lnSpc>
                <a:spcPts val="1700"/>
              </a:lnSpc>
              <a:buNone/>
            </a:pPr>
            <a:r>
              <a:rPr lang="en-US" sz="1500" dirty="0">
                <a:solidFill>
                  <a:srgbClr val="585E60"/>
                </a:solidFill>
                <a:latin typeface="Noto Serif" pitchFamily="34" charset="0"/>
                <a:ea typeface="Noto Serif" pitchFamily="34" charset="-122"/>
                <a:cs typeface="Noto Serif" pitchFamily="34" charset="-120"/>
              </a:rPr>
              <a:t>Identify Bipolar Disorder cases accurately within electronic health records</a:t>
            </a:r>
            <a:endParaRPr lang="en-US" sz="1500" dirty="0"/>
          </a:p>
        </p:txBody>
      </p:sp>
      <p:sp>
        <p:nvSpPr>
          <p:cNvPr id="9" name="Shape 5"/>
          <p:cNvSpPr/>
          <p:nvPr/>
        </p:nvSpPr>
        <p:spPr>
          <a:xfrm>
            <a:off x="5122545" y="5321022"/>
            <a:ext cx="4385191" cy="1213961"/>
          </a:xfrm>
          <a:prstGeom prst="rect">
            <a:avLst/>
          </a:prstGeom>
          <a:solidFill>
            <a:srgbClr val="D9E7F2"/>
          </a:solidFill>
          <a:ln/>
        </p:spPr>
        <p:txBody>
          <a:bodyPr/>
          <a:lstStyle/>
          <a:p>
            <a:endParaRPr lang="en-US"/>
          </a:p>
        </p:txBody>
      </p:sp>
      <p:sp>
        <p:nvSpPr>
          <p:cNvPr id="10" name="Shape 6"/>
          <p:cNvSpPr/>
          <p:nvPr/>
        </p:nvSpPr>
        <p:spPr>
          <a:xfrm>
            <a:off x="5122545" y="5321022"/>
            <a:ext cx="15240" cy="1213961"/>
          </a:xfrm>
          <a:prstGeom prst="roundRect">
            <a:avLst>
              <a:gd name="adj" fmla="val 373512"/>
            </a:avLst>
          </a:prstGeom>
          <a:solidFill>
            <a:srgbClr val="BFCDD8"/>
          </a:solidFill>
          <a:ln/>
        </p:spPr>
        <p:txBody>
          <a:bodyPr/>
          <a:lstStyle/>
          <a:p>
            <a:endParaRPr lang="en-US"/>
          </a:p>
        </p:txBody>
      </p:sp>
      <p:sp>
        <p:nvSpPr>
          <p:cNvPr id="11" name="Text 7"/>
          <p:cNvSpPr/>
          <p:nvPr/>
        </p:nvSpPr>
        <p:spPr>
          <a:xfrm>
            <a:off x="5258038" y="5456515"/>
            <a:ext cx="2047994" cy="211693"/>
          </a:xfrm>
          <a:prstGeom prst="rect">
            <a:avLst/>
          </a:prstGeom>
          <a:noFill/>
          <a:ln/>
        </p:spPr>
        <p:txBody>
          <a:bodyPr wrap="none" lIns="0" tIns="0" rIns="0" bIns="0" rtlCol="0" anchor="t"/>
          <a:lstStyle/>
          <a:p>
            <a:pPr marL="0" indent="0" algn="l">
              <a:lnSpc>
                <a:spcPts val="1650"/>
              </a:lnSpc>
              <a:buNone/>
            </a:pPr>
            <a:r>
              <a:rPr lang="en-US" dirty="0">
                <a:solidFill>
                  <a:srgbClr val="585E60"/>
                </a:solidFill>
                <a:latin typeface="Noto Sans" pitchFamily="34" charset="0"/>
                <a:ea typeface="Noto Sans" pitchFamily="34" charset="-122"/>
                <a:cs typeface="Noto Sans" pitchFamily="34" charset="-120"/>
              </a:rPr>
              <a:t>Methodological Approach</a:t>
            </a:r>
            <a:endParaRPr lang="en-US" dirty="0"/>
          </a:p>
        </p:txBody>
      </p:sp>
      <p:sp>
        <p:nvSpPr>
          <p:cNvPr id="12" name="Text 8"/>
          <p:cNvSpPr/>
          <p:nvPr/>
        </p:nvSpPr>
        <p:spPr>
          <a:xfrm>
            <a:off x="5258038" y="5749409"/>
            <a:ext cx="4114205" cy="650081"/>
          </a:xfrm>
          <a:prstGeom prst="rect">
            <a:avLst/>
          </a:prstGeom>
          <a:noFill/>
          <a:ln/>
        </p:spPr>
        <p:txBody>
          <a:bodyPr wrap="square" lIns="0" tIns="0" rIns="0" bIns="0" rtlCol="0" anchor="t"/>
          <a:lstStyle/>
          <a:p>
            <a:pPr marL="0" indent="0" algn="l">
              <a:lnSpc>
                <a:spcPts val="1700"/>
              </a:lnSpc>
              <a:buNone/>
            </a:pPr>
            <a:r>
              <a:rPr lang="en-US" sz="1500" dirty="0">
                <a:solidFill>
                  <a:srgbClr val="585E60"/>
                </a:solidFill>
                <a:latin typeface="Noto Serif" pitchFamily="34" charset="0"/>
                <a:ea typeface="Noto Serif" pitchFamily="34" charset="-122"/>
                <a:cs typeface="Noto Serif" pitchFamily="34" charset="-120"/>
              </a:rPr>
              <a:t>Applied Adaptive LASSO (regularized regression) combining coded diagnostic data with NLP-extracted features from clinical notes</a:t>
            </a:r>
            <a:endParaRPr lang="en-US" sz="1500" dirty="0"/>
          </a:p>
        </p:txBody>
      </p:sp>
      <p:sp>
        <p:nvSpPr>
          <p:cNvPr id="13" name="Shape 9"/>
          <p:cNvSpPr/>
          <p:nvPr/>
        </p:nvSpPr>
        <p:spPr>
          <a:xfrm>
            <a:off x="9507736" y="5321022"/>
            <a:ext cx="4385310" cy="1213961"/>
          </a:xfrm>
          <a:prstGeom prst="rect">
            <a:avLst/>
          </a:prstGeom>
          <a:solidFill>
            <a:srgbClr val="D9E7F2"/>
          </a:solidFill>
          <a:ln/>
        </p:spPr>
        <p:txBody>
          <a:bodyPr/>
          <a:lstStyle/>
          <a:p>
            <a:endParaRPr lang="en-US"/>
          </a:p>
        </p:txBody>
      </p:sp>
      <p:sp>
        <p:nvSpPr>
          <p:cNvPr id="14" name="Shape 10"/>
          <p:cNvSpPr/>
          <p:nvPr/>
        </p:nvSpPr>
        <p:spPr>
          <a:xfrm>
            <a:off x="9507736" y="5321022"/>
            <a:ext cx="15240" cy="1213961"/>
          </a:xfrm>
          <a:prstGeom prst="roundRect">
            <a:avLst>
              <a:gd name="adj" fmla="val 373512"/>
            </a:avLst>
          </a:prstGeom>
          <a:solidFill>
            <a:srgbClr val="BFCDD8"/>
          </a:solidFill>
          <a:ln/>
        </p:spPr>
        <p:txBody>
          <a:bodyPr/>
          <a:lstStyle/>
          <a:p>
            <a:endParaRPr lang="en-US"/>
          </a:p>
        </p:txBody>
      </p:sp>
      <p:sp>
        <p:nvSpPr>
          <p:cNvPr id="15" name="Text 11"/>
          <p:cNvSpPr/>
          <p:nvPr/>
        </p:nvSpPr>
        <p:spPr>
          <a:xfrm>
            <a:off x="9643229" y="5456515"/>
            <a:ext cx="1694140" cy="211693"/>
          </a:xfrm>
          <a:prstGeom prst="rect">
            <a:avLst/>
          </a:prstGeom>
          <a:noFill/>
          <a:ln/>
        </p:spPr>
        <p:txBody>
          <a:bodyPr wrap="none" lIns="0" tIns="0" rIns="0" bIns="0" rtlCol="0" anchor="t"/>
          <a:lstStyle/>
          <a:p>
            <a:pPr marL="0" indent="0" algn="l">
              <a:lnSpc>
                <a:spcPts val="1650"/>
              </a:lnSpc>
              <a:buNone/>
            </a:pPr>
            <a:r>
              <a:rPr lang="en-US" dirty="0">
                <a:solidFill>
                  <a:srgbClr val="585E60"/>
                </a:solidFill>
                <a:latin typeface="Noto Sans" pitchFamily="34" charset="0"/>
                <a:ea typeface="Noto Sans" pitchFamily="34" charset="-122"/>
                <a:cs typeface="Noto Sans" pitchFamily="34" charset="-120"/>
              </a:rPr>
              <a:t>Validation Strategy</a:t>
            </a:r>
            <a:endParaRPr lang="en-US" dirty="0"/>
          </a:p>
        </p:txBody>
      </p:sp>
      <p:sp>
        <p:nvSpPr>
          <p:cNvPr id="16" name="Text 12"/>
          <p:cNvSpPr/>
          <p:nvPr/>
        </p:nvSpPr>
        <p:spPr>
          <a:xfrm>
            <a:off x="9643229" y="5749409"/>
            <a:ext cx="4114324" cy="433388"/>
          </a:xfrm>
          <a:prstGeom prst="rect">
            <a:avLst/>
          </a:prstGeom>
          <a:noFill/>
          <a:ln/>
        </p:spPr>
        <p:txBody>
          <a:bodyPr wrap="square" lIns="0" tIns="0" rIns="0" bIns="0" rtlCol="0" anchor="t"/>
          <a:lstStyle/>
          <a:p>
            <a:pPr marL="0" indent="0" algn="l">
              <a:lnSpc>
                <a:spcPts val="1700"/>
              </a:lnSpc>
              <a:buNone/>
            </a:pPr>
            <a:r>
              <a:rPr lang="en-US" sz="1500" dirty="0">
                <a:solidFill>
                  <a:srgbClr val="585E60"/>
                </a:solidFill>
                <a:latin typeface="Noto Serif" pitchFamily="34" charset="0"/>
                <a:ea typeface="Noto Serif" pitchFamily="34" charset="-122"/>
                <a:cs typeface="Noto Serif" pitchFamily="34" charset="-120"/>
              </a:rPr>
              <a:t>Compared algorithm predictions against gold standard SCID (Structured Clinical Interview) assessments</a:t>
            </a:r>
            <a:endParaRPr lang="en-US" sz="1500" dirty="0"/>
          </a:p>
        </p:txBody>
      </p:sp>
      <p:sp>
        <p:nvSpPr>
          <p:cNvPr id="19" name="Text 15"/>
          <p:cNvSpPr/>
          <p:nvPr/>
        </p:nvSpPr>
        <p:spPr>
          <a:xfrm>
            <a:off x="872847" y="6670477"/>
            <a:ext cx="1694140" cy="211693"/>
          </a:xfrm>
          <a:prstGeom prst="rect">
            <a:avLst/>
          </a:prstGeom>
          <a:noFill/>
          <a:ln/>
        </p:spPr>
        <p:txBody>
          <a:bodyPr wrap="none" lIns="0" tIns="0" rIns="0" bIns="0" rtlCol="0" anchor="t"/>
          <a:lstStyle/>
          <a:p>
            <a:pPr marL="0" indent="0" algn="l">
              <a:lnSpc>
                <a:spcPts val="1650"/>
              </a:lnSpc>
              <a:buNone/>
            </a:pPr>
            <a:r>
              <a:rPr lang="en-US" dirty="0">
                <a:solidFill>
                  <a:srgbClr val="585E60"/>
                </a:solidFill>
                <a:latin typeface="Noto Sans" pitchFamily="34" charset="0"/>
                <a:ea typeface="Noto Sans" pitchFamily="34" charset="-122"/>
                <a:cs typeface="Noto Sans" pitchFamily="34" charset="-120"/>
              </a:rPr>
              <a:t>Clinical Impact</a:t>
            </a:r>
            <a:endParaRPr lang="en-US" dirty="0"/>
          </a:p>
        </p:txBody>
      </p:sp>
      <p:sp>
        <p:nvSpPr>
          <p:cNvPr id="20" name="Text 16"/>
          <p:cNvSpPr/>
          <p:nvPr/>
        </p:nvSpPr>
        <p:spPr>
          <a:xfrm>
            <a:off x="872847" y="6963370"/>
            <a:ext cx="12884706" cy="216694"/>
          </a:xfrm>
          <a:prstGeom prst="rect">
            <a:avLst/>
          </a:prstGeom>
          <a:noFill/>
          <a:ln/>
        </p:spPr>
        <p:txBody>
          <a:bodyPr wrap="none" lIns="0" tIns="0" rIns="0" bIns="0" rtlCol="0" anchor="t"/>
          <a:lstStyle/>
          <a:p>
            <a:pPr marL="0" indent="0" algn="l">
              <a:lnSpc>
                <a:spcPts val="1700"/>
              </a:lnSpc>
              <a:buNone/>
            </a:pPr>
            <a:r>
              <a:rPr lang="en-US" sz="1500" dirty="0">
                <a:solidFill>
                  <a:srgbClr val="585E60"/>
                </a:solidFill>
                <a:latin typeface="Noto Serif" pitchFamily="34" charset="0"/>
                <a:ea typeface="Noto Serif" pitchFamily="34" charset="-122"/>
                <a:cs typeface="Noto Serif" pitchFamily="34" charset="-120"/>
              </a:rPr>
              <a:t>Achieved PPV of 0.85, enabling creation of a reliable research cohort for subsequent genetic studies (4500 cases, 5000 controls)</a:t>
            </a:r>
            <a:endParaRPr lang="en-US" sz="1500" dirty="0"/>
          </a:p>
        </p:txBody>
      </p:sp>
      <p:sp>
        <p:nvSpPr>
          <p:cNvPr id="21" name="Text 17"/>
          <p:cNvSpPr/>
          <p:nvPr/>
        </p:nvSpPr>
        <p:spPr>
          <a:xfrm>
            <a:off x="729734" y="7475577"/>
            <a:ext cx="13170932" cy="216694"/>
          </a:xfrm>
          <a:prstGeom prst="rect">
            <a:avLst/>
          </a:prstGeom>
          <a:noFill/>
          <a:ln/>
        </p:spPr>
        <p:txBody>
          <a:bodyPr wrap="none" lIns="0" tIns="0" rIns="0" bIns="0" rtlCol="0" anchor="t"/>
          <a:lstStyle/>
          <a:p>
            <a:pPr marL="0" indent="0" algn="l">
              <a:lnSpc>
                <a:spcPts val="1700"/>
              </a:lnSpc>
              <a:buNone/>
            </a:pPr>
            <a:r>
              <a:rPr lang="en-US" sz="1050" i="1" dirty="0">
                <a:solidFill>
                  <a:srgbClr val="585E60"/>
                </a:solidFill>
                <a:latin typeface="Noto Serif" pitchFamily="34" charset="0"/>
                <a:ea typeface="Noto Serif" pitchFamily="34" charset="-122"/>
                <a:cs typeface="Noto Serif" pitchFamily="34" charset="-120"/>
              </a:rPr>
              <a:t>Castro, Minnier et al. Validation of electronic health record phenotyping of bipolar disorder cases and controls. American Journal of Psychiatry, 2015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82704"/>
            <a:ext cx="12360116" cy="602456"/>
          </a:xfrm>
          <a:prstGeom prst="rect">
            <a:avLst/>
          </a:prstGeom>
          <a:noFill/>
          <a:ln/>
        </p:spPr>
        <p:txBody>
          <a:bodyPr wrap="none" lIns="0" tIns="0" rIns="0" bIns="0" rtlCol="0" anchor="t"/>
          <a:lstStyle/>
          <a:p>
            <a:pPr marL="0" indent="0" algn="l">
              <a:lnSpc>
                <a:spcPts val="4700"/>
              </a:lnSpc>
              <a:buNone/>
            </a:pPr>
            <a:r>
              <a:rPr lang="en-US" sz="3750" dirty="0">
                <a:solidFill>
                  <a:srgbClr val="585E60"/>
                </a:solidFill>
                <a:latin typeface="Noto Sans" pitchFamily="34" charset="0"/>
                <a:ea typeface="Noto Sans" pitchFamily="34" charset="-122"/>
                <a:cs typeface="Noto Sans" pitchFamily="34" charset="-120"/>
              </a:rPr>
              <a:t>Case Study 2: Rheumatoid Arthritis with Limited Labels</a:t>
            </a:r>
            <a:endParaRPr lang="en-US" sz="3750" dirty="0"/>
          </a:p>
        </p:txBody>
      </p:sp>
      <p:pic>
        <p:nvPicPr>
          <p:cNvPr id="3" name="Image 0" descr="preencoded.png"/>
          <p:cNvPicPr>
            <a:picLocks noChangeAspect="1"/>
          </p:cNvPicPr>
          <p:nvPr/>
        </p:nvPicPr>
        <p:blipFill>
          <a:blip r:embed="rId3"/>
          <a:stretch>
            <a:fillRect/>
          </a:stretch>
        </p:blipFill>
        <p:spPr>
          <a:xfrm>
            <a:off x="986552" y="1322666"/>
            <a:ext cx="4194572" cy="4194572"/>
          </a:xfrm>
          <a:prstGeom prst="rect">
            <a:avLst/>
          </a:prstGeom>
        </p:spPr>
      </p:pic>
      <p:sp>
        <p:nvSpPr>
          <p:cNvPr id="4" name="Text 1"/>
          <p:cNvSpPr/>
          <p:nvPr/>
        </p:nvSpPr>
        <p:spPr>
          <a:xfrm>
            <a:off x="6206609" y="1767126"/>
            <a:ext cx="2892028" cy="361474"/>
          </a:xfrm>
          <a:prstGeom prst="rect">
            <a:avLst/>
          </a:prstGeom>
          <a:noFill/>
          <a:ln/>
        </p:spPr>
        <p:txBody>
          <a:bodyPr wrap="none" lIns="0" tIns="0" rIns="0" bIns="0" rtlCol="0" anchor="t"/>
          <a:lstStyle/>
          <a:p>
            <a:pPr marL="0" indent="0" algn="l">
              <a:lnSpc>
                <a:spcPts val="2800"/>
              </a:lnSpc>
              <a:buNone/>
            </a:pPr>
            <a:r>
              <a:rPr lang="en-US" sz="2250" dirty="0">
                <a:solidFill>
                  <a:srgbClr val="585E60"/>
                </a:solidFill>
                <a:latin typeface="Noto Sans" pitchFamily="34" charset="0"/>
                <a:ea typeface="Noto Sans" pitchFamily="34" charset="-122"/>
                <a:cs typeface="Noto Sans" pitchFamily="34" charset="-120"/>
              </a:rPr>
              <a:t>The Innovation</a:t>
            </a:r>
            <a:endParaRPr lang="en-US" sz="2250" dirty="0"/>
          </a:p>
        </p:txBody>
      </p:sp>
      <p:sp>
        <p:nvSpPr>
          <p:cNvPr id="5" name="Text 2"/>
          <p:cNvSpPr/>
          <p:nvPr/>
        </p:nvSpPr>
        <p:spPr>
          <a:xfrm>
            <a:off x="6206609" y="2321362"/>
            <a:ext cx="7637502" cy="308372"/>
          </a:xfrm>
          <a:prstGeom prst="rect">
            <a:avLst/>
          </a:prstGeom>
          <a:noFill/>
          <a:ln/>
        </p:spPr>
        <p:txBody>
          <a:bodyPr wrap="none" lIns="0" tIns="0" rIns="0" bIns="0" rtlCol="0" anchor="t"/>
          <a:lstStyle/>
          <a:p>
            <a:pPr marL="0" indent="0" algn="l">
              <a:lnSpc>
                <a:spcPts val="2400"/>
              </a:lnSpc>
              <a:buNone/>
            </a:pPr>
            <a:r>
              <a:rPr lang="en-US" sz="1500" b="1" dirty="0">
                <a:solidFill>
                  <a:srgbClr val="585E60"/>
                </a:solidFill>
                <a:latin typeface="Noto Serif" pitchFamily="34" charset="0"/>
                <a:ea typeface="Noto Serif" pitchFamily="34" charset="-122"/>
                <a:cs typeface="Noto Serif" pitchFamily="34" charset="-120"/>
              </a:rPr>
              <a:t>Challenge:</a:t>
            </a:r>
            <a:r>
              <a:rPr lang="en-US" sz="1500" dirty="0">
                <a:solidFill>
                  <a:srgbClr val="585E60"/>
                </a:solidFill>
                <a:latin typeface="Noto Serif" pitchFamily="34" charset="0"/>
                <a:ea typeface="Noto Serif" pitchFamily="34" charset="-122"/>
                <a:cs typeface="Noto Serif" pitchFamily="34" charset="-120"/>
              </a:rPr>
              <a:t> Automated feature selection with minimal labeled data</a:t>
            </a:r>
            <a:endParaRPr lang="en-US" sz="1500" dirty="0"/>
          </a:p>
        </p:txBody>
      </p:sp>
      <p:sp>
        <p:nvSpPr>
          <p:cNvPr id="6" name="Text 3"/>
          <p:cNvSpPr/>
          <p:nvPr/>
        </p:nvSpPr>
        <p:spPr>
          <a:xfrm>
            <a:off x="6206609" y="2803208"/>
            <a:ext cx="7637502" cy="616744"/>
          </a:xfrm>
          <a:prstGeom prst="rect">
            <a:avLst/>
          </a:prstGeom>
          <a:noFill/>
          <a:ln/>
        </p:spPr>
        <p:txBody>
          <a:bodyPr wrap="square" lIns="0" tIns="0" rIns="0" bIns="0" rtlCol="0" anchor="t"/>
          <a:lstStyle/>
          <a:p>
            <a:pPr marL="0" indent="0" algn="l">
              <a:lnSpc>
                <a:spcPts val="2400"/>
              </a:lnSpc>
              <a:buNone/>
            </a:pPr>
            <a:r>
              <a:rPr lang="en-US" sz="1500" b="1" dirty="0">
                <a:solidFill>
                  <a:srgbClr val="585E60"/>
                </a:solidFill>
                <a:latin typeface="Noto Serif" pitchFamily="34" charset="0"/>
                <a:ea typeface="Noto Serif" pitchFamily="34" charset="-122"/>
                <a:cs typeface="Noto Serif" pitchFamily="34" charset="-120"/>
              </a:rPr>
              <a:t>Solution:</a:t>
            </a:r>
            <a:r>
              <a:rPr lang="en-US" sz="1500" dirty="0">
                <a:solidFill>
                  <a:srgbClr val="585E60"/>
                </a:solidFill>
                <a:latin typeface="Noto Serif" pitchFamily="34" charset="0"/>
                <a:ea typeface="Noto Serif" pitchFamily="34" charset="-122"/>
                <a:cs typeface="Noto Serif" pitchFamily="34" charset="-120"/>
              </a:rPr>
              <a:t> Unsupervised clustering on surrogate markers (ICD code counts) to generate "silver standard" labels, followed by Adaptive LASSO selection</a:t>
            </a:r>
            <a:endParaRPr lang="en-US" sz="1500" dirty="0"/>
          </a:p>
        </p:txBody>
      </p:sp>
      <p:sp>
        <p:nvSpPr>
          <p:cNvPr id="7" name="Text 4"/>
          <p:cNvSpPr/>
          <p:nvPr/>
        </p:nvSpPr>
        <p:spPr>
          <a:xfrm>
            <a:off x="6206609" y="3593425"/>
            <a:ext cx="7637502" cy="308372"/>
          </a:xfrm>
          <a:prstGeom prst="rect">
            <a:avLst/>
          </a:prstGeom>
          <a:noFill/>
          <a:ln/>
        </p:spPr>
        <p:txBody>
          <a:bodyPr wrap="none" lIns="0" tIns="0" rIns="0" bIns="0" rtlCol="0" anchor="t"/>
          <a:lstStyle/>
          <a:p>
            <a:pPr marL="0" indent="0" algn="l">
              <a:lnSpc>
                <a:spcPts val="2400"/>
              </a:lnSpc>
              <a:buNone/>
            </a:pPr>
            <a:r>
              <a:rPr lang="en-US" sz="1500" b="1" dirty="0">
                <a:solidFill>
                  <a:srgbClr val="585E60"/>
                </a:solidFill>
                <a:latin typeface="Noto Serif" pitchFamily="34" charset="0"/>
                <a:ea typeface="Noto Serif" pitchFamily="34" charset="-122"/>
                <a:cs typeface="Noto Serif" pitchFamily="34" charset="-120"/>
              </a:rPr>
              <a:t>Result:</a:t>
            </a:r>
            <a:r>
              <a:rPr lang="en-US" sz="1500" dirty="0">
                <a:solidFill>
                  <a:srgbClr val="585E60"/>
                </a:solidFill>
                <a:latin typeface="Noto Serif" pitchFamily="34" charset="0"/>
                <a:ea typeface="Noto Serif" pitchFamily="34" charset="-122"/>
                <a:cs typeface="Noto Serif" pitchFamily="34" charset="-120"/>
              </a:rPr>
              <a:t> Achieved equivalent accuracy using only 50% of the labeled training data</a:t>
            </a:r>
            <a:endParaRPr lang="en-US" sz="1500" dirty="0"/>
          </a:p>
        </p:txBody>
      </p:sp>
      <p:sp>
        <p:nvSpPr>
          <p:cNvPr id="8" name="Text 5"/>
          <p:cNvSpPr/>
          <p:nvPr/>
        </p:nvSpPr>
        <p:spPr>
          <a:xfrm>
            <a:off x="6206609" y="4075271"/>
            <a:ext cx="7637502" cy="616744"/>
          </a:xfrm>
          <a:prstGeom prst="rect">
            <a:avLst/>
          </a:prstGeom>
          <a:noFill/>
          <a:ln/>
        </p:spPr>
        <p:txBody>
          <a:bodyPr wrap="square" lIns="0" tIns="0" rIns="0" bIns="0" rtlCol="0" anchor="t"/>
          <a:lstStyle/>
          <a:p>
            <a:pPr marL="0" indent="0" algn="l">
              <a:lnSpc>
                <a:spcPts val="2400"/>
              </a:lnSpc>
              <a:buNone/>
            </a:pPr>
            <a:r>
              <a:rPr lang="en-US" sz="1500" i="1" dirty="0">
                <a:solidFill>
                  <a:srgbClr val="585E60"/>
                </a:solidFill>
                <a:latin typeface="Noto Serif" pitchFamily="34" charset="0"/>
                <a:ea typeface="Noto Serif" pitchFamily="34" charset="-122"/>
                <a:cs typeface="Noto Serif" pitchFamily="34" charset="-120"/>
              </a:rPr>
              <a:t>Gronsbell, Minnier et al. Automated feature selection of predictors in electronic medical records data. Biometrics, 2018</a:t>
            </a:r>
            <a:endParaRPr lang="en-US" sz="1500" dirty="0"/>
          </a:p>
        </p:txBody>
      </p:sp>
      <p:sp>
        <p:nvSpPr>
          <p:cNvPr id="9" name="Shape 6"/>
          <p:cNvSpPr/>
          <p:nvPr/>
        </p:nvSpPr>
        <p:spPr>
          <a:xfrm>
            <a:off x="793790" y="6419374"/>
            <a:ext cx="13042821" cy="1127403"/>
          </a:xfrm>
          <a:prstGeom prst="roundRect">
            <a:avLst>
              <a:gd name="adj" fmla="val 7183"/>
            </a:avLst>
          </a:prstGeom>
          <a:solidFill>
            <a:srgbClr val="C5DAE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986552" y="6720126"/>
            <a:ext cx="240983" cy="192762"/>
          </a:xfrm>
          <a:prstGeom prst="rect">
            <a:avLst/>
          </a:prstGeom>
        </p:spPr>
      </p:pic>
      <p:sp>
        <p:nvSpPr>
          <p:cNvPr id="11" name="Text 7"/>
          <p:cNvSpPr/>
          <p:nvPr/>
        </p:nvSpPr>
        <p:spPr>
          <a:xfrm>
            <a:off x="1420297" y="6660237"/>
            <a:ext cx="12223552" cy="616744"/>
          </a:xfrm>
          <a:prstGeom prst="rect">
            <a:avLst/>
          </a:prstGeom>
          <a:noFill/>
          <a:ln/>
        </p:spPr>
        <p:txBody>
          <a:bodyPr wrap="square" lIns="0" tIns="0" rIns="0" bIns="0" rtlCol="0" anchor="t"/>
          <a:lstStyle/>
          <a:p>
            <a:pPr marL="0" indent="0" algn="l">
              <a:lnSpc>
                <a:spcPts val="2400"/>
              </a:lnSpc>
              <a:buNone/>
            </a:pPr>
            <a:r>
              <a:rPr lang="en-US" sz="1500" b="1" dirty="0">
                <a:solidFill>
                  <a:srgbClr val="000000"/>
                </a:solidFill>
                <a:latin typeface="Noto Serif" pitchFamily="34" charset="0"/>
                <a:ea typeface="Noto Serif" pitchFamily="34" charset="-122"/>
                <a:cs typeface="Noto Serif" pitchFamily="34" charset="-120"/>
              </a:rPr>
              <a:t>Key Takeaway:</a:t>
            </a:r>
            <a:r>
              <a:rPr lang="en-US" sz="1500" dirty="0">
                <a:solidFill>
                  <a:srgbClr val="000000"/>
                </a:solidFill>
                <a:latin typeface="Noto Serif" pitchFamily="34" charset="0"/>
                <a:ea typeface="Noto Serif" pitchFamily="34" charset="-122"/>
                <a:cs typeface="Noto Serif" pitchFamily="34" charset="-120"/>
              </a:rPr>
              <a:t> Machine learning and statistical methods are essential not just for prediction, but for defining the very outcomes we seek to predict.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Challenge #2: Integrating Complex, Multi-Modal Data</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Once reliable outcomes are established, the next frontier involves modeling complex, high-dimensional predictors from diverse data sources. How do we effectively integrate genomic data, clinical variables, imaging features, and unstructured text?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08328"/>
            <a:ext cx="12417266" cy="673418"/>
          </a:xfrm>
          <a:prstGeom prst="rect">
            <a:avLst/>
          </a:prstGeom>
          <a:noFill/>
          <a:ln/>
        </p:spPr>
        <p:txBody>
          <a:bodyPr wrap="none" lIns="0" tIns="0" rIns="0" bIns="0" rtlCol="0" anchor="t"/>
          <a:lstStyle/>
          <a:p>
            <a:pPr marL="0" indent="0" algn="l">
              <a:lnSpc>
                <a:spcPts val="5300"/>
              </a:lnSpc>
              <a:buNone/>
            </a:pPr>
            <a:r>
              <a:rPr lang="en-US" sz="4200" dirty="0">
                <a:solidFill>
                  <a:srgbClr val="585E60"/>
                </a:solidFill>
                <a:latin typeface="Noto Sans" pitchFamily="34" charset="0"/>
                <a:ea typeface="Noto Sans" pitchFamily="34" charset="-122"/>
                <a:cs typeface="Noto Sans" pitchFamily="34" charset="-120"/>
              </a:rPr>
              <a:t>Case Study 3: Non-Linear Genomic Risk Modeling</a:t>
            </a:r>
            <a:endParaRPr lang="en-US" sz="4200" dirty="0"/>
          </a:p>
        </p:txBody>
      </p:sp>
      <p:pic>
        <p:nvPicPr>
          <p:cNvPr id="3" name="Image 0" descr="preencoded.png"/>
          <p:cNvPicPr>
            <a:picLocks noChangeAspect="1"/>
          </p:cNvPicPr>
          <p:nvPr/>
        </p:nvPicPr>
        <p:blipFill>
          <a:blip r:embed="rId3"/>
          <a:stretch>
            <a:fillRect/>
          </a:stretch>
        </p:blipFill>
        <p:spPr>
          <a:xfrm>
            <a:off x="793790" y="2012633"/>
            <a:ext cx="4347567" cy="861893"/>
          </a:xfrm>
          <a:prstGeom prst="rect">
            <a:avLst/>
          </a:prstGeom>
        </p:spPr>
      </p:pic>
      <p:sp>
        <p:nvSpPr>
          <p:cNvPr id="4" name="Text 1"/>
          <p:cNvSpPr/>
          <p:nvPr/>
        </p:nvSpPr>
        <p:spPr>
          <a:xfrm>
            <a:off x="1009174" y="3089910"/>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Problem</a:t>
            </a:r>
            <a:endParaRPr lang="en-US" sz="2100" dirty="0"/>
          </a:p>
        </p:txBody>
      </p:sp>
      <p:sp>
        <p:nvSpPr>
          <p:cNvPr id="5" name="Text 2"/>
          <p:cNvSpPr/>
          <p:nvPr/>
        </p:nvSpPr>
        <p:spPr>
          <a:xfrm>
            <a:off x="1009174" y="3555683"/>
            <a:ext cx="3916799" cy="137922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Disease risk from thousands of SNPs exhibits </a:t>
            </a:r>
            <a:r>
              <a:rPr lang="en-US" sz="1650" b="1" dirty="0">
                <a:solidFill>
                  <a:srgbClr val="585E60"/>
                </a:solidFill>
                <a:latin typeface="Noto Serif" pitchFamily="34" charset="0"/>
                <a:ea typeface="Noto Serif" pitchFamily="34" charset="-122"/>
                <a:cs typeface="Noto Serif" pitchFamily="34" charset="-120"/>
              </a:rPr>
              <a:t>non-linear relationships </a:t>
            </a:r>
            <a:r>
              <a:rPr lang="en-US" sz="1650" dirty="0">
                <a:solidFill>
                  <a:srgbClr val="585E60"/>
                </a:solidFill>
                <a:latin typeface="Noto Serif" pitchFamily="34" charset="0"/>
                <a:ea typeface="Noto Serif" pitchFamily="34" charset="-122"/>
                <a:cs typeface="Noto Serif" pitchFamily="34" charset="-120"/>
              </a:rPr>
              <a:t>and gene-set structures that simple linear models cannot capture</a:t>
            </a:r>
            <a:endParaRPr lang="en-US" sz="1650" dirty="0"/>
          </a:p>
        </p:txBody>
      </p:sp>
      <p:pic>
        <p:nvPicPr>
          <p:cNvPr id="6" name="Image 1" descr="preencoded.png"/>
          <p:cNvPicPr>
            <a:picLocks noChangeAspect="1"/>
          </p:cNvPicPr>
          <p:nvPr/>
        </p:nvPicPr>
        <p:blipFill>
          <a:blip r:embed="rId4"/>
          <a:stretch>
            <a:fillRect/>
          </a:stretch>
        </p:blipFill>
        <p:spPr>
          <a:xfrm>
            <a:off x="5141357" y="2012633"/>
            <a:ext cx="4347567" cy="861893"/>
          </a:xfrm>
          <a:prstGeom prst="rect">
            <a:avLst/>
          </a:prstGeom>
        </p:spPr>
      </p:pic>
      <p:sp>
        <p:nvSpPr>
          <p:cNvPr id="7" name="Text 3"/>
          <p:cNvSpPr/>
          <p:nvPr/>
        </p:nvSpPr>
        <p:spPr>
          <a:xfrm>
            <a:off x="5356741" y="3089910"/>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Solution</a:t>
            </a:r>
            <a:endParaRPr lang="en-US" sz="2100" dirty="0"/>
          </a:p>
        </p:txBody>
      </p:sp>
      <p:sp>
        <p:nvSpPr>
          <p:cNvPr id="8" name="Text 4"/>
          <p:cNvSpPr/>
          <p:nvPr/>
        </p:nvSpPr>
        <p:spPr>
          <a:xfrm>
            <a:off x="5356741" y="3555683"/>
            <a:ext cx="3916799" cy="689610"/>
          </a:xfrm>
          <a:prstGeom prst="rect">
            <a:avLst/>
          </a:prstGeom>
          <a:noFill/>
          <a:ln/>
        </p:spPr>
        <p:txBody>
          <a:bodyPr wrap="square" lIns="0" tIns="0" rIns="0" bIns="0" rtlCol="0" anchor="t"/>
          <a:lstStyle/>
          <a:p>
            <a:pPr marL="0" indent="0" algn="l">
              <a:lnSpc>
                <a:spcPts val="2700"/>
              </a:lnSpc>
              <a:buNone/>
            </a:pPr>
            <a:r>
              <a:rPr lang="en-US" sz="1650" b="1" dirty="0">
                <a:solidFill>
                  <a:srgbClr val="585E60"/>
                </a:solidFill>
                <a:latin typeface="Noto Serif" pitchFamily="34" charset="0"/>
                <a:ea typeface="Noto Serif" pitchFamily="34" charset="-122"/>
                <a:cs typeface="Noto Serif" pitchFamily="34" charset="-120"/>
              </a:rPr>
              <a:t>Adaptive Naive Bayes Kernel Machine (ANBKM)</a:t>
            </a:r>
            <a:endParaRPr lang="en-US" sz="1650" dirty="0"/>
          </a:p>
        </p:txBody>
      </p:sp>
      <p:sp>
        <p:nvSpPr>
          <p:cNvPr id="9" name="Text 5"/>
          <p:cNvSpPr/>
          <p:nvPr/>
        </p:nvSpPr>
        <p:spPr>
          <a:xfrm>
            <a:off x="5356741" y="4374475"/>
            <a:ext cx="3916799" cy="689610"/>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585E60"/>
                </a:solidFill>
                <a:latin typeface="Noto Serif" pitchFamily="34" charset="0"/>
                <a:ea typeface="Noto Serif" pitchFamily="34" charset="-122"/>
                <a:cs typeface="Noto Serif" pitchFamily="34" charset="-120"/>
              </a:rPr>
              <a:t>Kernel Machine: Models complex, non-linear risk within gene-sets</a:t>
            </a:r>
            <a:endParaRPr lang="en-US" sz="1650" dirty="0"/>
          </a:p>
        </p:txBody>
      </p:sp>
      <p:sp>
        <p:nvSpPr>
          <p:cNvPr id="10" name="Text 6"/>
          <p:cNvSpPr/>
          <p:nvPr/>
        </p:nvSpPr>
        <p:spPr>
          <a:xfrm>
            <a:off x="5356741" y="5139452"/>
            <a:ext cx="3916799" cy="1034415"/>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585E60"/>
                </a:solidFill>
                <a:latin typeface="Noto Serif" pitchFamily="34" charset="0"/>
                <a:ea typeface="Noto Serif" pitchFamily="34" charset="-122"/>
                <a:cs typeface="Noto Serif" pitchFamily="34" charset="-120"/>
              </a:rPr>
              <a:t>Naive Bayes + LASSO: Aggregates risk scores and selects informative gene-sets</a:t>
            </a:r>
            <a:endParaRPr lang="en-US" sz="1650" dirty="0"/>
          </a:p>
        </p:txBody>
      </p:sp>
      <p:pic>
        <p:nvPicPr>
          <p:cNvPr id="11" name="Image 2" descr="preencoded.png"/>
          <p:cNvPicPr>
            <a:picLocks noChangeAspect="1"/>
          </p:cNvPicPr>
          <p:nvPr/>
        </p:nvPicPr>
        <p:blipFill>
          <a:blip r:embed="rId5"/>
          <a:stretch>
            <a:fillRect/>
          </a:stretch>
        </p:blipFill>
        <p:spPr>
          <a:xfrm>
            <a:off x="9488924" y="2012633"/>
            <a:ext cx="4347567" cy="861893"/>
          </a:xfrm>
          <a:prstGeom prst="rect">
            <a:avLst/>
          </a:prstGeom>
        </p:spPr>
      </p:pic>
      <p:sp>
        <p:nvSpPr>
          <p:cNvPr id="12" name="Text 7"/>
          <p:cNvSpPr/>
          <p:nvPr/>
        </p:nvSpPr>
        <p:spPr>
          <a:xfrm>
            <a:off x="9704308" y="3089910"/>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Advantage</a:t>
            </a:r>
            <a:endParaRPr lang="en-US" sz="2100" dirty="0"/>
          </a:p>
        </p:txBody>
      </p:sp>
      <p:sp>
        <p:nvSpPr>
          <p:cNvPr id="13" name="Text 8"/>
          <p:cNvSpPr/>
          <p:nvPr/>
        </p:nvSpPr>
        <p:spPr>
          <a:xfrm>
            <a:off x="9704308" y="3555683"/>
            <a:ext cx="3916799" cy="137922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Captures biological pathway structures while maintaining </a:t>
            </a:r>
            <a:r>
              <a:rPr lang="en-US" sz="1650" b="1" dirty="0">
                <a:solidFill>
                  <a:srgbClr val="585E60"/>
                </a:solidFill>
                <a:latin typeface="Noto Serif" pitchFamily="34" charset="0"/>
                <a:ea typeface="Noto Serif" pitchFamily="34" charset="-122"/>
                <a:cs typeface="Noto Serif" pitchFamily="34" charset="-120"/>
              </a:rPr>
              <a:t>statistical interpretability and feature selection</a:t>
            </a:r>
            <a:endParaRPr lang="en-US" sz="1650" b="1" dirty="0"/>
          </a:p>
        </p:txBody>
      </p:sp>
      <p:sp>
        <p:nvSpPr>
          <p:cNvPr id="14" name="Text 9"/>
          <p:cNvSpPr/>
          <p:nvPr/>
        </p:nvSpPr>
        <p:spPr>
          <a:xfrm>
            <a:off x="793790" y="6631662"/>
            <a:ext cx="13042821" cy="689610"/>
          </a:xfrm>
          <a:prstGeom prst="rect">
            <a:avLst/>
          </a:prstGeom>
          <a:noFill/>
          <a:ln/>
        </p:spPr>
        <p:txBody>
          <a:bodyPr wrap="square" lIns="0" tIns="0" rIns="0" bIns="0" rtlCol="0" anchor="t"/>
          <a:lstStyle/>
          <a:p>
            <a:pPr marL="0" indent="0" algn="l">
              <a:lnSpc>
                <a:spcPts val="2700"/>
              </a:lnSpc>
              <a:buNone/>
            </a:pPr>
            <a:r>
              <a:rPr lang="en-US" sz="1650" i="1" dirty="0">
                <a:solidFill>
                  <a:srgbClr val="585E60"/>
                </a:solidFill>
                <a:latin typeface="Noto Serif" pitchFamily="34" charset="0"/>
                <a:ea typeface="Noto Serif" pitchFamily="34" charset="-122"/>
                <a:cs typeface="Noto Serif" pitchFamily="34" charset="-120"/>
              </a:rPr>
              <a:t>Minnier et al. Risk classification with an adaptive naive Bayes kernel machine model. Journal of the American Statistical Association, 2015</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7579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Case Study 4: Ensemble Learning for Health Equity</a:t>
            </a:r>
            <a:endParaRPr lang="en-US" sz="4450" dirty="0"/>
          </a:p>
        </p:txBody>
      </p:sp>
      <p:sp>
        <p:nvSpPr>
          <p:cNvPr id="4" name="Text 1"/>
          <p:cNvSpPr/>
          <p:nvPr/>
        </p:nvSpPr>
        <p:spPr>
          <a:xfrm>
            <a:off x="6280190" y="2660332"/>
            <a:ext cx="3095982" cy="425291"/>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Research Context</a:t>
            </a:r>
            <a:endParaRPr lang="en-US" sz="2650" dirty="0"/>
          </a:p>
        </p:txBody>
      </p:sp>
      <p:sp>
        <p:nvSpPr>
          <p:cNvPr id="5" name="Text 2"/>
          <p:cNvSpPr/>
          <p:nvPr/>
        </p:nvSpPr>
        <p:spPr>
          <a:xfrm>
            <a:off x="6280190" y="3312438"/>
            <a:ext cx="3095982" cy="1451610"/>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Goal:</a:t>
            </a:r>
            <a:r>
              <a:rPr lang="en-US" sz="1750" dirty="0">
                <a:solidFill>
                  <a:srgbClr val="585E60"/>
                </a:solidFill>
                <a:latin typeface="Noto Serif" pitchFamily="34" charset="0"/>
                <a:ea typeface="Noto Serif" pitchFamily="34" charset="-122"/>
                <a:cs typeface="Noto Serif" pitchFamily="34" charset="-120"/>
              </a:rPr>
              <a:t> Infer Latino nativity status for health equity research using diverse EHR data sources</a:t>
            </a:r>
            <a:endParaRPr lang="en-US" sz="1750" dirty="0"/>
          </a:p>
        </p:txBody>
      </p:sp>
      <p:sp>
        <p:nvSpPr>
          <p:cNvPr id="6" name="Text 3"/>
          <p:cNvSpPr/>
          <p:nvPr/>
        </p:nvSpPr>
        <p:spPr>
          <a:xfrm>
            <a:off x="6280190" y="4968121"/>
            <a:ext cx="3095982" cy="362903"/>
          </a:xfrm>
          <a:prstGeom prst="rect">
            <a:avLst/>
          </a:prstGeom>
          <a:noFill/>
          <a:ln/>
        </p:spPr>
        <p:txBody>
          <a:bodyPr wrap="non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Data Sources:</a:t>
            </a:r>
            <a:endParaRPr lang="en-US" sz="1750" dirty="0"/>
          </a:p>
        </p:txBody>
      </p:sp>
      <p:sp>
        <p:nvSpPr>
          <p:cNvPr id="7" name="Text 4"/>
          <p:cNvSpPr/>
          <p:nvPr/>
        </p:nvSpPr>
        <p:spPr>
          <a:xfrm>
            <a:off x="6280190" y="5535097"/>
            <a:ext cx="3095982"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Electronic health records</a:t>
            </a:r>
            <a:endParaRPr lang="en-US" sz="1750" dirty="0"/>
          </a:p>
        </p:txBody>
      </p:sp>
      <p:sp>
        <p:nvSpPr>
          <p:cNvPr id="8" name="Text 5"/>
          <p:cNvSpPr/>
          <p:nvPr/>
        </p:nvSpPr>
        <p:spPr>
          <a:xfrm>
            <a:off x="6280190" y="5977295"/>
            <a:ext cx="3095982"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Census tract information</a:t>
            </a:r>
            <a:endParaRPr lang="en-US" sz="1750" dirty="0"/>
          </a:p>
        </p:txBody>
      </p:sp>
      <p:sp>
        <p:nvSpPr>
          <p:cNvPr id="9" name="Text 6"/>
          <p:cNvSpPr/>
          <p:nvPr/>
        </p:nvSpPr>
        <p:spPr>
          <a:xfrm>
            <a:off x="6280190" y="6419493"/>
            <a:ext cx="3095982"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Surname-based indicators</a:t>
            </a:r>
            <a:endParaRPr lang="en-US" sz="1750" dirty="0"/>
          </a:p>
        </p:txBody>
      </p:sp>
      <p:sp>
        <p:nvSpPr>
          <p:cNvPr id="10" name="Text 7"/>
          <p:cNvSpPr/>
          <p:nvPr/>
        </p:nvSpPr>
        <p:spPr>
          <a:xfrm>
            <a:off x="9937194" y="2660332"/>
            <a:ext cx="3898940" cy="425291"/>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Super Learner Approach</a:t>
            </a:r>
            <a:endParaRPr lang="en-US" sz="2650" dirty="0"/>
          </a:p>
        </p:txBody>
      </p:sp>
      <p:sp>
        <p:nvSpPr>
          <p:cNvPr id="11" name="Text 8"/>
          <p:cNvSpPr/>
          <p:nvPr/>
        </p:nvSpPr>
        <p:spPr>
          <a:xfrm>
            <a:off x="9937194" y="3312438"/>
            <a:ext cx="3906917" cy="1451610"/>
          </a:xfrm>
          <a:prstGeom prst="rect">
            <a:avLst/>
          </a:prstGeom>
          <a:noFill/>
          <a:ln/>
        </p:spPr>
        <p:txBody>
          <a:bodyPr wrap="square" lIns="0" tIns="0" rIns="0" bIns="0" rtlCol="0" anchor="t"/>
          <a:lstStyle/>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Combined multiple algorithms (Logistic Regression, Random Forest, Gradient Boosting) using optimal weighted averaging</a:t>
            </a:r>
            <a:endParaRPr lang="en-US" sz="1750" dirty="0"/>
          </a:p>
        </p:txBody>
      </p:sp>
      <p:sp>
        <p:nvSpPr>
          <p:cNvPr id="12" name="Text 9"/>
          <p:cNvSpPr/>
          <p:nvPr/>
        </p:nvSpPr>
        <p:spPr>
          <a:xfrm>
            <a:off x="9937194" y="4968121"/>
            <a:ext cx="3906917" cy="1451610"/>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Performance:</a:t>
            </a:r>
            <a:r>
              <a:rPr lang="en-US" sz="1750" dirty="0">
                <a:solidFill>
                  <a:srgbClr val="585E60"/>
                </a:solidFill>
                <a:latin typeface="Noto Serif" pitchFamily="34" charset="0"/>
                <a:ea typeface="Noto Serif" pitchFamily="34" charset="-122"/>
                <a:cs typeface="Noto Serif" pitchFamily="34" charset="-120"/>
              </a:rPr>
              <a:t> Ensemble model achieved AUC &gt; 0.90, substantially outperforming any individual algorithm</a:t>
            </a:r>
            <a:endParaRPr lang="en-US" sz="1750" dirty="0"/>
          </a:p>
        </p:txBody>
      </p:sp>
      <p:sp>
        <p:nvSpPr>
          <p:cNvPr id="13" name="Text 10"/>
          <p:cNvSpPr/>
          <p:nvPr/>
        </p:nvSpPr>
        <p:spPr>
          <a:xfrm>
            <a:off x="9937194" y="6623804"/>
            <a:ext cx="3906917" cy="1148596"/>
          </a:xfrm>
          <a:prstGeom prst="rect">
            <a:avLst/>
          </a:prstGeom>
          <a:noFill/>
          <a:ln/>
        </p:spPr>
        <p:txBody>
          <a:bodyPr wrap="square" lIns="0" tIns="0" rIns="0" bIns="0" rtlCol="0" anchor="t"/>
          <a:lstStyle/>
          <a:p>
            <a:pPr marL="0" indent="0" algn="l">
              <a:lnSpc>
                <a:spcPts val="2850"/>
              </a:lnSpc>
              <a:buNone/>
            </a:pPr>
            <a:r>
              <a:rPr lang="en-US" sz="1400" i="1" dirty="0">
                <a:solidFill>
                  <a:srgbClr val="585E60"/>
                </a:solidFill>
                <a:latin typeface="Noto Serif" pitchFamily="34" charset="0"/>
                <a:ea typeface="Noto Serif" pitchFamily="34" charset="-122"/>
                <a:cs typeface="Noto Serif" pitchFamily="34" charset="-120"/>
              </a:rPr>
              <a:t>Marino, Minnier et al. Disaggregating Latino nativity in equity research using electronic health records. Health Services Research, 2023</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89159"/>
            <a:ext cx="7556421" cy="2020253"/>
          </a:xfrm>
          <a:prstGeom prst="rect">
            <a:avLst/>
          </a:prstGeom>
          <a:noFill/>
          <a:ln/>
        </p:spPr>
        <p:txBody>
          <a:bodyPr wrap="square" lIns="0" tIns="0" rIns="0" bIns="0" rtlCol="0" anchor="t"/>
          <a:lstStyle/>
          <a:p>
            <a:pPr marL="0" indent="0" algn="l">
              <a:lnSpc>
                <a:spcPts val="5300"/>
              </a:lnSpc>
              <a:buNone/>
            </a:pPr>
            <a:r>
              <a:rPr lang="en-US" sz="4200" dirty="0">
                <a:solidFill>
                  <a:srgbClr val="585E60"/>
                </a:solidFill>
                <a:latin typeface="Noto Sans" pitchFamily="34" charset="0"/>
                <a:ea typeface="Noto Sans" pitchFamily="34" charset="-122"/>
                <a:cs typeface="Noto Sans" pitchFamily="34" charset="-120"/>
              </a:rPr>
              <a:t>The Frontier: Integrating "Black Box" AI into Prediction Models</a:t>
            </a:r>
            <a:endParaRPr lang="en-US" sz="4200" dirty="0"/>
          </a:p>
        </p:txBody>
      </p:sp>
      <p:sp>
        <p:nvSpPr>
          <p:cNvPr id="4" name="Shape 1"/>
          <p:cNvSpPr/>
          <p:nvPr/>
        </p:nvSpPr>
        <p:spPr>
          <a:xfrm>
            <a:off x="6280190" y="3232547"/>
            <a:ext cx="3670459" cy="2291001"/>
          </a:xfrm>
          <a:prstGeom prst="roundRect">
            <a:avLst>
              <a:gd name="adj" fmla="val 3950"/>
            </a:avLst>
          </a:prstGeom>
          <a:solidFill>
            <a:srgbClr val="D9E7F2"/>
          </a:solidFill>
          <a:ln w="7620">
            <a:solidFill>
              <a:srgbClr val="BFCDD8"/>
            </a:solidFill>
            <a:prstDash val="solid"/>
          </a:ln>
        </p:spPr>
        <p:txBody>
          <a:bodyPr/>
          <a:lstStyle/>
          <a:p>
            <a:endParaRPr lang="en-US"/>
          </a:p>
        </p:txBody>
      </p:sp>
      <p:sp>
        <p:nvSpPr>
          <p:cNvPr id="5" name="Text 2"/>
          <p:cNvSpPr/>
          <p:nvPr/>
        </p:nvSpPr>
        <p:spPr>
          <a:xfrm>
            <a:off x="6503194" y="3455551"/>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New Reality</a:t>
            </a:r>
            <a:endParaRPr lang="en-US" sz="2100" dirty="0"/>
          </a:p>
        </p:txBody>
      </p:sp>
      <p:sp>
        <p:nvSpPr>
          <p:cNvPr id="6" name="Text 3"/>
          <p:cNvSpPr/>
          <p:nvPr/>
        </p:nvSpPr>
        <p:spPr>
          <a:xfrm>
            <a:off x="6503194" y="3921323"/>
            <a:ext cx="3224451" cy="137922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FDA-authorized AI algorithms now provide powerful, stand-alone predictions for clinical use</a:t>
            </a:r>
            <a:endParaRPr lang="en-US" sz="1650" dirty="0"/>
          </a:p>
        </p:txBody>
      </p:sp>
      <p:sp>
        <p:nvSpPr>
          <p:cNvPr id="7" name="Shape 4"/>
          <p:cNvSpPr/>
          <p:nvPr/>
        </p:nvSpPr>
        <p:spPr>
          <a:xfrm>
            <a:off x="10166033" y="3232547"/>
            <a:ext cx="3670578" cy="2291001"/>
          </a:xfrm>
          <a:prstGeom prst="roundRect">
            <a:avLst>
              <a:gd name="adj" fmla="val 3950"/>
            </a:avLst>
          </a:prstGeom>
          <a:solidFill>
            <a:srgbClr val="D9E7F2"/>
          </a:solidFill>
          <a:ln w="7620">
            <a:solidFill>
              <a:srgbClr val="BFCDD8"/>
            </a:solidFill>
            <a:prstDash val="solid"/>
          </a:ln>
        </p:spPr>
        <p:txBody>
          <a:bodyPr/>
          <a:lstStyle/>
          <a:p>
            <a:endParaRPr lang="en-US"/>
          </a:p>
        </p:txBody>
      </p:sp>
      <p:sp>
        <p:nvSpPr>
          <p:cNvPr id="8" name="Text 5"/>
          <p:cNvSpPr/>
          <p:nvPr/>
        </p:nvSpPr>
        <p:spPr>
          <a:xfrm>
            <a:off x="10389037" y="3455551"/>
            <a:ext cx="3100983"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Biostatistician's Role</a:t>
            </a:r>
            <a:endParaRPr lang="en-US" sz="2100" dirty="0"/>
          </a:p>
        </p:txBody>
      </p:sp>
      <p:sp>
        <p:nvSpPr>
          <p:cNvPr id="9" name="Text 6"/>
          <p:cNvSpPr/>
          <p:nvPr/>
        </p:nvSpPr>
        <p:spPr>
          <a:xfrm>
            <a:off x="10389037" y="3921323"/>
            <a:ext cx="3224570" cy="137922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Our challenge: How do we rigorously integrate these AI tools with other predictive data sources?</a:t>
            </a:r>
            <a:endParaRPr lang="en-US" sz="1650" dirty="0"/>
          </a:p>
        </p:txBody>
      </p:sp>
      <p:sp>
        <p:nvSpPr>
          <p:cNvPr id="10" name="Shape 7"/>
          <p:cNvSpPr/>
          <p:nvPr/>
        </p:nvSpPr>
        <p:spPr>
          <a:xfrm>
            <a:off x="6280190" y="5738932"/>
            <a:ext cx="7556421" cy="1601391"/>
          </a:xfrm>
          <a:prstGeom prst="roundRect">
            <a:avLst>
              <a:gd name="adj" fmla="val 5652"/>
            </a:avLst>
          </a:prstGeom>
          <a:solidFill>
            <a:srgbClr val="D9E7F2"/>
          </a:solidFill>
          <a:ln w="7620">
            <a:solidFill>
              <a:srgbClr val="BFCDD8"/>
            </a:solidFill>
            <a:prstDash val="solid"/>
          </a:ln>
        </p:spPr>
        <p:txBody>
          <a:bodyPr/>
          <a:lstStyle/>
          <a:p>
            <a:endParaRPr lang="en-US"/>
          </a:p>
        </p:txBody>
      </p:sp>
      <p:sp>
        <p:nvSpPr>
          <p:cNvPr id="11" name="Text 8"/>
          <p:cNvSpPr/>
          <p:nvPr/>
        </p:nvSpPr>
        <p:spPr>
          <a:xfrm>
            <a:off x="6503194" y="5961936"/>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The Opportunity</a:t>
            </a:r>
            <a:endParaRPr lang="en-US" sz="2100" dirty="0"/>
          </a:p>
        </p:txBody>
      </p:sp>
      <p:sp>
        <p:nvSpPr>
          <p:cNvPr id="12" name="Text 9"/>
          <p:cNvSpPr/>
          <p:nvPr/>
        </p:nvSpPr>
        <p:spPr>
          <a:xfrm>
            <a:off x="6503194" y="6427708"/>
            <a:ext cx="7110412" cy="68961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Create hybrid models that leverage AI strengths while maintaining statistical interpretability</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70015"/>
            <a:ext cx="12924711" cy="673418"/>
          </a:xfrm>
          <a:prstGeom prst="rect">
            <a:avLst/>
          </a:prstGeom>
          <a:noFill/>
          <a:ln/>
        </p:spPr>
        <p:txBody>
          <a:bodyPr wrap="none" lIns="0" tIns="0" rIns="0" bIns="0" rtlCol="0" anchor="t"/>
          <a:lstStyle/>
          <a:p>
            <a:pPr marL="0" indent="0" algn="l">
              <a:lnSpc>
                <a:spcPts val="5300"/>
              </a:lnSpc>
              <a:buNone/>
            </a:pPr>
            <a:r>
              <a:rPr lang="en-US" sz="4200" dirty="0">
                <a:solidFill>
                  <a:srgbClr val="585E60"/>
                </a:solidFill>
                <a:latin typeface="Noto Sans" pitchFamily="34" charset="0"/>
                <a:ea typeface="Noto Sans" pitchFamily="34" charset="-122"/>
                <a:cs typeface="Noto Sans" pitchFamily="34" charset="-120"/>
              </a:rPr>
              <a:t>Project Spotlight: VA Breast Cancer Risk Integration</a:t>
            </a:r>
            <a:endParaRPr lang="en-US" sz="4200" dirty="0"/>
          </a:p>
        </p:txBody>
      </p:sp>
      <p:sp>
        <p:nvSpPr>
          <p:cNvPr id="3" name="Text 1"/>
          <p:cNvSpPr/>
          <p:nvPr/>
        </p:nvSpPr>
        <p:spPr>
          <a:xfrm>
            <a:off x="793790" y="2174319"/>
            <a:ext cx="13042821" cy="344805"/>
          </a:xfrm>
          <a:prstGeom prst="rect">
            <a:avLst/>
          </a:prstGeom>
          <a:noFill/>
          <a:ln/>
        </p:spPr>
        <p:txBody>
          <a:bodyPr wrap="non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We are developing the most comprehensive breast cancer risk model by integrating all available predictive data sources.</a:t>
            </a:r>
            <a:endParaRPr lang="en-US" sz="16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761536"/>
            <a:ext cx="538639" cy="538639"/>
          </a:xfrm>
          <a:prstGeom prst="rect">
            <a:avLst/>
          </a:prstGeom>
        </p:spPr>
      </p:pic>
      <p:sp>
        <p:nvSpPr>
          <p:cNvPr id="5" name="Text 2"/>
          <p:cNvSpPr/>
          <p:nvPr/>
        </p:nvSpPr>
        <p:spPr>
          <a:xfrm>
            <a:off x="793790" y="3569494"/>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Clinical Data</a:t>
            </a:r>
            <a:endParaRPr lang="en-US" sz="2100" dirty="0"/>
          </a:p>
        </p:txBody>
      </p:sp>
      <p:sp>
        <p:nvSpPr>
          <p:cNvPr id="6" name="Text 3"/>
          <p:cNvSpPr/>
          <p:nvPr/>
        </p:nvSpPr>
        <p:spPr>
          <a:xfrm>
            <a:off x="793790" y="4035266"/>
            <a:ext cx="4168021" cy="68961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Age, family history, reproductive factors, breast density, etc.</a:t>
            </a:r>
            <a:endParaRPr lang="en-US" sz="16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1130" y="2761536"/>
            <a:ext cx="538639" cy="538639"/>
          </a:xfrm>
          <a:prstGeom prst="rect">
            <a:avLst/>
          </a:prstGeom>
        </p:spPr>
      </p:pic>
      <p:sp>
        <p:nvSpPr>
          <p:cNvPr id="8" name="Text 4"/>
          <p:cNvSpPr/>
          <p:nvPr/>
        </p:nvSpPr>
        <p:spPr>
          <a:xfrm>
            <a:off x="5231130" y="3569494"/>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Genomics</a:t>
            </a:r>
            <a:endParaRPr lang="en-US" sz="2100" dirty="0"/>
          </a:p>
        </p:txBody>
      </p:sp>
      <p:sp>
        <p:nvSpPr>
          <p:cNvPr id="9" name="Text 5"/>
          <p:cNvSpPr/>
          <p:nvPr/>
        </p:nvSpPr>
        <p:spPr>
          <a:xfrm>
            <a:off x="5231130" y="4035266"/>
            <a:ext cx="4168021" cy="68961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Polygenic Risk Score (PRS) from genome-wide association studies</a:t>
            </a:r>
            <a:endParaRPr lang="en-US" sz="16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68470" y="2761536"/>
            <a:ext cx="538639" cy="538639"/>
          </a:xfrm>
          <a:prstGeom prst="rect">
            <a:avLst/>
          </a:prstGeom>
        </p:spPr>
      </p:pic>
      <p:sp>
        <p:nvSpPr>
          <p:cNvPr id="11" name="Text 6"/>
          <p:cNvSpPr/>
          <p:nvPr/>
        </p:nvSpPr>
        <p:spPr>
          <a:xfrm>
            <a:off x="9668470" y="3569494"/>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585E60"/>
                </a:solidFill>
                <a:latin typeface="Noto Sans" pitchFamily="34" charset="0"/>
                <a:ea typeface="Noto Sans" pitchFamily="34" charset="-122"/>
                <a:cs typeface="Noto Sans" pitchFamily="34" charset="-120"/>
              </a:rPr>
              <a:t>AI Imaging</a:t>
            </a:r>
            <a:endParaRPr lang="en-US" sz="2100" dirty="0"/>
          </a:p>
        </p:txBody>
      </p:sp>
      <p:sp>
        <p:nvSpPr>
          <p:cNvPr id="12" name="Text 7"/>
          <p:cNvSpPr/>
          <p:nvPr/>
        </p:nvSpPr>
        <p:spPr>
          <a:xfrm>
            <a:off x="9668470" y="4035266"/>
            <a:ext cx="4168140" cy="689610"/>
          </a:xfrm>
          <a:prstGeom prst="rect">
            <a:avLst/>
          </a:prstGeom>
          <a:noFill/>
          <a:ln/>
        </p:spPr>
        <p:txBody>
          <a:bodyPr wrap="squar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"Clairity" algorithm score: deep learning model analyzing mammogram patterns</a:t>
            </a:r>
            <a:endParaRPr lang="en-US" sz="1650" dirty="0"/>
          </a:p>
        </p:txBody>
      </p:sp>
      <p:sp>
        <p:nvSpPr>
          <p:cNvPr id="13" name="Shape 8"/>
          <p:cNvSpPr/>
          <p:nvPr/>
        </p:nvSpPr>
        <p:spPr>
          <a:xfrm>
            <a:off x="793790" y="4967288"/>
            <a:ext cx="13042821" cy="1260277"/>
          </a:xfrm>
          <a:prstGeom prst="roundRect">
            <a:avLst>
              <a:gd name="adj" fmla="val 7181"/>
            </a:avLst>
          </a:prstGeom>
          <a:solidFill>
            <a:srgbClr val="C5DAEC"/>
          </a:solidFill>
          <a:ln/>
        </p:spPr>
        <p:txBody>
          <a:bodyPr/>
          <a:lstStyle/>
          <a:p>
            <a:endParaRPr lang="en-US"/>
          </a:p>
        </p:txBody>
      </p:sp>
      <p:pic>
        <p:nvPicPr>
          <p:cNvPr id="14" name="Image 3" descr="preencoded.png"/>
          <p:cNvPicPr>
            <a:picLocks noChangeAspect="1"/>
          </p:cNvPicPr>
          <p:nvPr/>
        </p:nvPicPr>
        <p:blipFill>
          <a:blip r:embed="rId9"/>
          <a:stretch>
            <a:fillRect/>
          </a:stretch>
        </p:blipFill>
        <p:spPr>
          <a:xfrm>
            <a:off x="1009174" y="5299472"/>
            <a:ext cx="269319" cy="215384"/>
          </a:xfrm>
          <a:prstGeom prst="rect">
            <a:avLst/>
          </a:prstGeom>
        </p:spPr>
      </p:pic>
      <p:sp>
        <p:nvSpPr>
          <p:cNvPr id="15" name="Text 9"/>
          <p:cNvSpPr/>
          <p:nvPr/>
        </p:nvSpPr>
        <p:spPr>
          <a:xfrm>
            <a:off x="1493877" y="5236488"/>
            <a:ext cx="12127349" cy="689610"/>
          </a:xfrm>
          <a:prstGeom prst="rect">
            <a:avLst/>
          </a:prstGeom>
          <a:noFill/>
          <a:ln/>
        </p:spPr>
        <p:txBody>
          <a:bodyPr wrap="square" lIns="0" tIns="0" rIns="0" bIns="0" rtlCol="0" anchor="t"/>
          <a:lstStyle/>
          <a:p>
            <a:pPr marL="0" indent="0" algn="l">
              <a:lnSpc>
                <a:spcPts val="2700"/>
              </a:lnSpc>
              <a:buNone/>
            </a:pPr>
            <a:r>
              <a:rPr lang="en-US" sz="1650" b="1" dirty="0">
                <a:solidFill>
                  <a:srgbClr val="000000"/>
                </a:solidFill>
                <a:latin typeface="Noto Serif" pitchFamily="34" charset="0"/>
                <a:ea typeface="Noto Serif" pitchFamily="34" charset="-122"/>
                <a:cs typeface="Noto Serif" pitchFamily="34" charset="-120"/>
              </a:rPr>
              <a:t>Statistical Innovation:</a:t>
            </a:r>
            <a:r>
              <a:rPr lang="en-US" sz="1650" dirty="0">
                <a:solidFill>
                  <a:srgbClr val="000000"/>
                </a:solidFill>
                <a:latin typeface="Noto Serif" pitchFamily="34" charset="0"/>
                <a:ea typeface="Noto Serif" pitchFamily="34" charset="-122"/>
                <a:cs typeface="Noto Serif" pitchFamily="34" charset="-120"/>
              </a:rPr>
              <a:t> New_Risk_Model = f(Clinical_Data, PRS, </a:t>
            </a:r>
            <a:r>
              <a:rPr lang="en-US" sz="1650" dirty="0" err="1">
                <a:solidFill>
                  <a:srgbClr val="000000"/>
                </a:solidFill>
                <a:latin typeface="Noto Serif" pitchFamily="34" charset="0"/>
                <a:ea typeface="Noto Serif" pitchFamily="34" charset="-122"/>
                <a:cs typeface="Noto Serif" pitchFamily="34" charset="-120"/>
              </a:rPr>
              <a:t>AI_Score</a:t>
            </a:r>
            <a:r>
              <a:rPr lang="en-US" sz="1650" dirty="0">
                <a:solidFill>
                  <a:srgbClr val="000000"/>
                </a:solidFill>
                <a:latin typeface="Noto Serif" pitchFamily="34" charset="0"/>
                <a:ea typeface="Noto Serif" pitchFamily="34" charset="-122"/>
                <a:cs typeface="Noto Serif" pitchFamily="34" charset="-120"/>
              </a:rPr>
              <a:t>)</a:t>
            </a:r>
          </a:p>
          <a:p>
            <a:pPr marL="0" indent="0" algn="l">
              <a:lnSpc>
                <a:spcPts val="2700"/>
              </a:lnSpc>
              <a:buNone/>
            </a:pPr>
            <a:r>
              <a:rPr lang="en-US" sz="1650" dirty="0">
                <a:solidFill>
                  <a:srgbClr val="000000"/>
                </a:solidFill>
                <a:latin typeface="Noto Serif" pitchFamily="34" charset="0"/>
                <a:ea typeface="Noto Serif" pitchFamily="34" charset="-122"/>
                <a:cs typeface="Noto Serif" pitchFamily="34" charset="-120"/>
              </a:rPr>
              <a:t>Don't just compare AI to genomics—integrate them for maximum predictive power.</a:t>
            </a:r>
            <a:endParaRPr lang="en-US" sz="1650" dirty="0"/>
          </a:p>
        </p:txBody>
      </p:sp>
      <p:sp>
        <p:nvSpPr>
          <p:cNvPr id="16" name="Text 10"/>
          <p:cNvSpPr/>
          <p:nvPr/>
        </p:nvSpPr>
        <p:spPr>
          <a:xfrm>
            <a:off x="793790" y="6469975"/>
            <a:ext cx="13042821" cy="689610"/>
          </a:xfrm>
          <a:prstGeom prst="rect">
            <a:avLst/>
          </a:prstGeom>
          <a:noFill/>
          <a:ln/>
        </p:spPr>
        <p:txBody>
          <a:bodyPr wrap="square" lIns="0" tIns="0" rIns="0" bIns="0" rtlCol="0" anchor="t"/>
          <a:lstStyle/>
          <a:p>
            <a:pPr marL="0" indent="0" algn="l">
              <a:lnSpc>
                <a:spcPts val="2700"/>
              </a:lnSpc>
              <a:buNone/>
            </a:pPr>
            <a:r>
              <a:rPr lang="en-US" sz="1650" b="1" dirty="0">
                <a:solidFill>
                  <a:srgbClr val="585E60"/>
                </a:solidFill>
                <a:latin typeface="Noto Serif" pitchFamily="34" charset="0"/>
                <a:ea typeface="Noto Serif" pitchFamily="34" charset="-122"/>
                <a:cs typeface="Noto Serif" pitchFamily="34" charset="-120"/>
              </a:rPr>
              <a:t>Clinical Impact:</a:t>
            </a:r>
            <a:r>
              <a:rPr lang="en-US" sz="1650" dirty="0">
                <a:solidFill>
                  <a:srgbClr val="585E60"/>
                </a:solidFill>
                <a:latin typeface="Noto Serif" pitchFamily="34" charset="0"/>
                <a:ea typeface="Noto Serif" pitchFamily="34" charset="-122"/>
                <a:cs typeface="Noto Serif" pitchFamily="34" charset="-120"/>
              </a:rPr>
              <a:t> Identify high-risk women (elevated PRS + high AI score) for enhanced screening protocols and prevention interventions.</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79897"/>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The Next Frontier: Large Language Models for Feature Extraction</a:t>
            </a:r>
            <a:endParaRPr lang="en-US" sz="4450" dirty="0"/>
          </a:p>
        </p:txBody>
      </p:sp>
      <p:sp>
        <p:nvSpPr>
          <p:cNvPr id="4" name="Text 1"/>
          <p:cNvSpPr/>
          <p:nvPr/>
        </p:nvSpPr>
        <p:spPr>
          <a:xfrm>
            <a:off x="6280190" y="3546396"/>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585E60"/>
                </a:solidFill>
                <a:latin typeface="Noto Serif" pitchFamily="34" charset="0"/>
                <a:ea typeface="Noto Serif" pitchFamily="34" charset="-122"/>
                <a:cs typeface="Noto Serif" pitchFamily="34" charset="-120"/>
              </a:rPr>
              <a:t>Clinical notes contain rich information absent from structured fields: nuanced social determinants of health, detailed family histories, symptom severity trajectories, and treatment response patterns. LLMs represent the next generation of NLP, capable of extracting this complex information at scale.</a:t>
            </a:r>
            <a:endParaRPr lang="en-US" sz="1750" dirty="0"/>
          </a:p>
        </p:txBody>
      </p:sp>
      <p:sp>
        <p:nvSpPr>
          <p:cNvPr id="5" name="Shape 2"/>
          <p:cNvSpPr/>
          <p:nvPr/>
        </p:nvSpPr>
        <p:spPr>
          <a:xfrm>
            <a:off x="6280190" y="5729407"/>
            <a:ext cx="6826687" cy="283488"/>
          </a:xfrm>
          <a:prstGeom prst="roundRect">
            <a:avLst>
              <a:gd name="adj" fmla="val 33606"/>
            </a:avLst>
          </a:prstGeom>
          <a:solidFill>
            <a:srgbClr val="D9E7F2"/>
          </a:solidFill>
          <a:ln w="7620">
            <a:solidFill>
              <a:srgbClr val="BFCDD8"/>
            </a:solidFill>
            <a:prstDash val="solid"/>
          </a:ln>
        </p:spPr>
        <p:txBody>
          <a:bodyPr/>
          <a:lstStyle/>
          <a:p>
            <a:endParaRPr lang="en-US"/>
          </a:p>
        </p:txBody>
      </p:sp>
      <p:sp>
        <p:nvSpPr>
          <p:cNvPr id="6" name="Shape 3"/>
          <p:cNvSpPr/>
          <p:nvPr/>
        </p:nvSpPr>
        <p:spPr>
          <a:xfrm>
            <a:off x="6280190" y="5729407"/>
            <a:ext cx="5461278" cy="283488"/>
          </a:xfrm>
          <a:prstGeom prst="roundRect">
            <a:avLst>
              <a:gd name="adj" fmla="val 33606"/>
            </a:avLst>
          </a:prstGeom>
          <a:solidFill>
            <a:srgbClr val="5D98CA"/>
          </a:solidFill>
          <a:ln/>
        </p:spPr>
        <p:txBody>
          <a:bodyPr/>
          <a:lstStyle/>
          <a:p>
            <a:endParaRPr lang="en-US"/>
          </a:p>
        </p:txBody>
      </p:sp>
      <p:sp>
        <p:nvSpPr>
          <p:cNvPr id="7" name="Text 4"/>
          <p:cNvSpPr/>
          <p:nvPr/>
        </p:nvSpPr>
        <p:spPr>
          <a:xfrm>
            <a:off x="13276898" y="5729407"/>
            <a:ext cx="559713" cy="283488"/>
          </a:xfrm>
          <a:prstGeom prst="rect">
            <a:avLst/>
          </a:prstGeom>
          <a:noFill/>
          <a:ln/>
        </p:spPr>
        <p:txBody>
          <a:bodyPr wrap="none" lIns="0" tIns="0" rIns="0" bIns="0" rtlCol="0" anchor="t"/>
          <a:lstStyle/>
          <a:p>
            <a:pPr marL="0" indent="0" algn="r">
              <a:lnSpc>
                <a:spcPts val="2200"/>
              </a:lnSpc>
              <a:buNone/>
            </a:pPr>
            <a:r>
              <a:rPr lang="en-US" sz="2200" dirty="0">
                <a:solidFill>
                  <a:srgbClr val="585E60"/>
                </a:solidFill>
                <a:latin typeface="Noto Sans" pitchFamily="34" charset="0"/>
                <a:ea typeface="Noto Sans" pitchFamily="34" charset="-122"/>
                <a:cs typeface="Noto Sans" pitchFamily="34" charset="-120"/>
              </a:rPr>
              <a:t>80%</a:t>
            </a:r>
            <a:endParaRPr lang="en-US" sz="2200" dirty="0"/>
          </a:p>
        </p:txBody>
      </p:sp>
      <p:sp>
        <p:nvSpPr>
          <p:cNvPr id="8" name="Text 5"/>
          <p:cNvSpPr/>
          <p:nvPr/>
        </p:nvSpPr>
        <p:spPr>
          <a:xfrm>
            <a:off x="11001375" y="6296263"/>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585E60"/>
                </a:solidFill>
                <a:latin typeface="Noto Sans" pitchFamily="34" charset="0"/>
                <a:ea typeface="Noto Sans" pitchFamily="34" charset="-122"/>
                <a:cs typeface="Noto Sans" pitchFamily="34" charset="-120"/>
              </a:rPr>
              <a:t>Unstructured Data</a:t>
            </a:r>
            <a:endParaRPr lang="en-US" sz="2200" dirty="0"/>
          </a:p>
        </p:txBody>
      </p:sp>
      <p:sp>
        <p:nvSpPr>
          <p:cNvPr id="9" name="Text 6"/>
          <p:cNvSpPr/>
          <p:nvPr/>
        </p:nvSpPr>
        <p:spPr>
          <a:xfrm>
            <a:off x="6280190" y="6786682"/>
            <a:ext cx="7556421" cy="362903"/>
          </a:xfrm>
          <a:prstGeom prst="rect">
            <a:avLst/>
          </a:prstGeom>
          <a:noFill/>
          <a:ln/>
        </p:spPr>
        <p:txBody>
          <a:bodyPr wrap="none" lIns="0" tIns="0" rIns="0" bIns="0" rtlCol="0" anchor="t"/>
          <a:lstStyle/>
          <a:p>
            <a:pPr marL="0" indent="0" algn="r">
              <a:lnSpc>
                <a:spcPts val="2850"/>
              </a:lnSpc>
              <a:buNone/>
            </a:pPr>
            <a:r>
              <a:rPr lang="en-US" sz="1750" dirty="0">
                <a:solidFill>
                  <a:srgbClr val="585E60"/>
                </a:solidFill>
                <a:latin typeface="Noto Serif" pitchFamily="34" charset="0"/>
                <a:ea typeface="Noto Serif" pitchFamily="34" charset="-122"/>
                <a:cs typeface="Noto Serif" pitchFamily="34" charset="-120"/>
              </a:rPr>
              <a:t>Percentage of EHR data in free-text format</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075" y="625078"/>
            <a:ext cx="12863632" cy="708065"/>
          </a:xfrm>
          <a:prstGeom prst="rect">
            <a:avLst/>
          </a:prstGeom>
          <a:noFill/>
          <a:ln/>
        </p:spPr>
        <p:txBody>
          <a:bodyPr wrap="none" lIns="0" tIns="0" rIns="0" bIns="0" rtlCol="0" anchor="t"/>
          <a:lstStyle/>
          <a:p>
            <a:pPr marL="0" indent="0" algn="l">
              <a:lnSpc>
                <a:spcPts val="5550"/>
              </a:lnSpc>
              <a:buNone/>
            </a:pPr>
            <a:r>
              <a:rPr lang="en-US" sz="4450" dirty="0">
                <a:solidFill>
                  <a:srgbClr val="585E60"/>
                </a:solidFill>
                <a:latin typeface="Noto Sans" pitchFamily="34" charset="0"/>
                <a:ea typeface="Noto Sans" pitchFamily="34" charset="-122"/>
                <a:cs typeface="Noto Sans" pitchFamily="34" charset="-120"/>
              </a:rPr>
              <a:t>From Traditional NLP to LLM-Powered Extraction</a:t>
            </a:r>
            <a:endParaRPr lang="en-US" sz="4450" dirty="0"/>
          </a:p>
        </p:txBody>
      </p:sp>
      <p:sp>
        <p:nvSpPr>
          <p:cNvPr id="3" name="Text 1"/>
          <p:cNvSpPr/>
          <p:nvPr/>
        </p:nvSpPr>
        <p:spPr>
          <a:xfrm>
            <a:off x="793075" y="1899642"/>
            <a:ext cx="4053602" cy="424815"/>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Traditional NLP Approach</a:t>
            </a:r>
            <a:endParaRPr lang="en-US" sz="2650" dirty="0"/>
          </a:p>
        </p:txBody>
      </p:sp>
      <p:sp>
        <p:nvSpPr>
          <p:cNvPr id="4" name="Text 2"/>
          <p:cNvSpPr/>
          <p:nvPr/>
        </p:nvSpPr>
        <p:spPr>
          <a:xfrm>
            <a:off x="793075" y="2551033"/>
            <a:ext cx="6245662" cy="362426"/>
          </a:xfrm>
          <a:prstGeom prst="rect">
            <a:avLst/>
          </a:prstGeom>
          <a:noFill/>
          <a:ln/>
        </p:spPr>
        <p:txBody>
          <a:bodyPr wrap="non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Our Previous Work:</a:t>
            </a:r>
            <a:endParaRPr lang="en-US" sz="1750" dirty="0"/>
          </a:p>
        </p:txBody>
      </p:sp>
      <p:sp>
        <p:nvSpPr>
          <p:cNvPr id="5" name="Text 3"/>
          <p:cNvSpPr/>
          <p:nvPr/>
        </p:nvSpPr>
        <p:spPr>
          <a:xfrm>
            <a:off x="793075" y="3117413"/>
            <a:ext cx="6245662" cy="72485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Bipolar Disorder: Keyword detection ("racing thoughts", "grandiosity")</a:t>
            </a:r>
            <a:endParaRPr lang="en-US" sz="1750" dirty="0"/>
          </a:p>
        </p:txBody>
      </p:sp>
      <p:sp>
        <p:nvSpPr>
          <p:cNvPr id="6" name="Text 4"/>
          <p:cNvSpPr/>
          <p:nvPr/>
        </p:nvSpPr>
        <p:spPr>
          <a:xfrm>
            <a:off x="793075" y="3921562"/>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Rheumatoid Arthritis: Pre-defined term extraction</a:t>
            </a:r>
            <a:endParaRPr lang="en-US" sz="1750" dirty="0"/>
          </a:p>
        </p:txBody>
      </p:sp>
      <p:sp>
        <p:nvSpPr>
          <p:cNvPr id="7" name="Text 5"/>
          <p:cNvSpPr/>
          <p:nvPr/>
        </p:nvSpPr>
        <p:spPr>
          <a:xfrm>
            <a:off x="793075" y="4363283"/>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Manual feature engineering required</a:t>
            </a:r>
            <a:endParaRPr lang="en-US" sz="1750" dirty="0"/>
          </a:p>
        </p:txBody>
      </p:sp>
      <p:sp>
        <p:nvSpPr>
          <p:cNvPr id="8" name="Text 6"/>
          <p:cNvSpPr/>
          <p:nvPr/>
        </p:nvSpPr>
        <p:spPr>
          <a:xfrm>
            <a:off x="793075" y="4929664"/>
            <a:ext cx="6245662" cy="724853"/>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Limitations:</a:t>
            </a:r>
            <a:r>
              <a:rPr lang="en-US" sz="1750" dirty="0">
                <a:solidFill>
                  <a:srgbClr val="585E60"/>
                </a:solidFill>
                <a:latin typeface="Noto Serif" pitchFamily="34" charset="0"/>
                <a:ea typeface="Noto Serif" pitchFamily="34" charset="-122"/>
                <a:cs typeface="Noto Serif" pitchFamily="34" charset="-120"/>
              </a:rPr>
              <a:t> Labor-intensive, limited to predefined concepts</a:t>
            </a:r>
            <a:endParaRPr lang="en-US" sz="1750" dirty="0"/>
          </a:p>
        </p:txBody>
      </p:sp>
      <p:sp>
        <p:nvSpPr>
          <p:cNvPr id="9" name="Text 7"/>
          <p:cNvSpPr/>
          <p:nvPr/>
        </p:nvSpPr>
        <p:spPr>
          <a:xfrm>
            <a:off x="7599283" y="1899642"/>
            <a:ext cx="3399234" cy="424815"/>
          </a:xfrm>
          <a:prstGeom prst="rect">
            <a:avLst/>
          </a:prstGeom>
          <a:noFill/>
          <a:ln/>
        </p:spPr>
        <p:txBody>
          <a:bodyPr wrap="none" lIns="0" tIns="0" rIns="0" bIns="0" rtlCol="0" anchor="t"/>
          <a:lstStyle/>
          <a:p>
            <a:pPr marL="0" indent="0" algn="l">
              <a:lnSpc>
                <a:spcPts val="3300"/>
              </a:lnSpc>
              <a:buNone/>
            </a:pPr>
            <a:r>
              <a:rPr lang="en-US" sz="2650" dirty="0">
                <a:solidFill>
                  <a:srgbClr val="585E60"/>
                </a:solidFill>
                <a:latin typeface="Noto Sans" pitchFamily="34" charset="0"/>
                <a:ea typeface="Noto Sans" pitchFamily="34" charset="-122"/>
                <a:cs typeface="Noto Sans" pitchFamily="34" charset="-120"/>
              </a:rPr>
              <a:t>LLM-Powered Future</a:t>
            </a:r>
            <a:endParaRPr lang="en-US" sz="2650" dirty="0"/>
          </a:p>
        </p:txBody>
      </p:sp>
      <p:sp>
        <p:nvSpPr>
          <p:cNvPr id="10" name="Text 8"/>
          <p:cNvSpPr/>
          <p:nvPr/>
        </p:nvSpPr>
        <p:spPr>
          <a:xfrm>
            <a:off x="7599283" y="2551033"/>
            <a:ext cx="6245662" cy="362426"/>
          </a:xfrm>
          <a:prstGeom prst="rect">
            <a:avLst/>
          </a:prstGeom>
          <a:noFill/>
          <a:ln/>
        </p:spPr>
        <p:txBody>
          <a:bodyPr wrap="non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Emerging Capabilities:</a:t>
            </a:r>
            <a:endParaRPr lang="en-US" sz="1750" dirty="0"/>
          </a:p>
        </p:txBody>
      </p:sp>
      <p:sp>
        <p:nvSpPr>
          <p:cNvPr id="11" name="Text 9"/>
          <p:cNvSpPr/>
          <p:nvPr/>
        </p:nvSpPr>
        <p:spPr>
          <a:xfrm>
            <a:off x="7599283" y="3117413"/>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Automated reading of entire clinical narratives</a:t>
            </a:r>
            <a:endParaRPr lang="en-US" sz="1750" dirty="0"/>
          </a:p>
        </p:txBody>
      </p:sp>
      <p:sp>
        <p:nvSpPr>
          <p:cNvPr id="12" name="Text 10"/>
          <p:cNvSpPr/>
          <p:nvPr/>
        </p:nvSpPr>
        <p:spPr>
          <a:xfrm>
            <a:off x="7599283" y="3559135"/>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Complex concept extraction without manual rules</a:t>
            </a:r>
            <a:endParaRPr lang="en-US" sz="1750" dirty="0"/>
          </a:p>
        </p:txBody>
      </p:sp>
      <p:sp>
        <p:nvSpPr>
          <p:cNvPr id="13" name="Text 11"/>
          <p:cNvSpPr/>
          <p:nvPr/>
        </p:nvSpPr>
        <p:spPr>
          <a:xfrm>
            <a:off x="7599283" y="4000857"/>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85E60"/>
                </a:solidFill>
                <a:latin typeface="Noto Serif" pitchFamily="34" charset="0"/>
                <a:ea typeface="Noto Serif" pitchFamily="34" charset="-122"/>
                <a:cs typeface="Noto Serif" pitchFamily="34" charset="-120"/>
              </a:rPr>
              <a:t>Contextual understanding of medical language</a:t>
            </a:r>
            <a:endParaRPr lang="en-US" sz="1750" dirty="0"/>
          </a:p>
        </p:txBody>
      </p:sp>
      <p:sp>
        <p:nvSpPr>
          <p:cNvPr id="14" name="Text 12"/>
          <p:cNvSpPr/>
          <p:nvPr/>
        </p:nvSpPr>
        <p:spPr>
          <a:xfrm>
            <a:off x="7599283" y="4567238"/>
            <a:ext cx="6245662" cy="724853"/>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Advantage:</a:t>
            </a:r>
            <a:r>
              <a:rPr lang="en-US" sz="1750" dirty="0">
                <a:solidFill>
                  <a:srgbClr val="585E60"/>
                </a:solidFill>
                <a:latin typeface="Noto Serif" pitchFamily="34" charset="0"/>
                <a:ea typeface="Noto Serif" pitchFamily="34" charset="-122"/>
                <a:cs typeface="Noto Serif" pitchFamily="34" charset="-120"/>
              </a:rPr>
              <a:t> Scales to millions of notes, captures nuanced clinical patterns</a:t>
            </a:r>
            <a:endParaRPr lang="en-US" sz="1750" dirty="0"/>
          </a:p>
        </p:txBody>
      </p:sp>
      <p:sp>
        <p:nvSpPr>
          <p:cNvPr id="15" name="Shape 13"/>
          <p:cNvSpPr/>
          <p:nvPr/>
        </p:nvSpPr>
        <p:spPr>
          <a:xfrm>
            <a:off x="793075" y="6226592"/>
            <a:ext cx="13044249" cy="35838"/>
          </a:xfrm>
          <a:prstGeom prst="rect">
            <a:avLst/>
          </a:prstGeom>
          <a:solidFill>
            <a:srgbClr val="585E60">
              <a:alpha val="50000"/>
            </a:srgbClr>
          </a:solidFill>
          <a:ln/>
        </p:spPr>
        <p:txBody>
          <a:bodyPr/>
          <a:lstStyle/>
          <a:p>
            <a:endParaRPr lang="en-US"/>
          </a:p>
        </p:txBody>
      </p:sp>
      <p:sp>
        <p:nvSpPr>
          <p:cNvPr id="16" name="Text 14"/>
          <p:cNvSpPr/>
          <p:nvPr/>
        </p:nvSpPr>
        <p:spPr>
          <a:xfrm>
            <a:off x="793075" y="6517243"/>
            <a:ext cx="13044249" cy="1087279"/>
          </a:xfrm>
          <a:prstGeom prst="rect">
            <a:avLst/>
          </a:prstGeom>
          <a:noFill/>
          <a:ln/>
        </p:spPr>
        <p:txBody>
          <a:bodyPr wrap="square" lIns="0" tIns="0" rIns="0" bIns="0" rtlCol="0" anchor="t"/>
          <a:lstStyle/>
          <a:p>
            <a:pPr marL="0" indent="0" algn="l">
              <a:lnSpc>
                <a:spcPts val="2850"/>
              </a:lnSpc>
              <a:buNone/>
            </a:pPr>
            <a:r>
              <a:rPr lang="en-US" sz="1750" b="1" dirty="0">
                <a:solidFill>
                  <a:srgbClr val="585E60"/>
                </a:solidFill>
                <a:latin typeface="Noto Serif" pitchFamily="34" charset="0"/>
                <a:ea typeface="Noto Serif" pitchFamily="34" charset="-122"/>
                <a:cs typeface="Noto Serif" pitchFamily="34" charset="-120"/>
              </a:rPr>
              <a:t>Example Research Question:</a:t>
            </a:r>
            <a:r>
              <a:rPr lang="en-US" sz="1750" dirty="0">
                <a:solidFill>
                  <a:srgbClr val="585E60"/>
                </a:solidFill>
                <a:latin typeface="Noto Serif" pitchFamily="34" charset="0"/>
                <a:ea typeface="Noto Serif" pitchFamily="34" charset="-122"/>
                <a:cs typeface="Noto Serif" pitchFamily="34" charset="-120"/>
              </a:rPr>
              <a:t> Can LLMs automate extraction of Bipolar subphenotypes (psychosis features, suicide attempts, age of onset) that we previously validated through manual review? If successful, this creates powerful new predictors for risk stratification models.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3641" y="619006"/>
            <a:ext cx="7569517" cy="1194911"/>
          </a:xfrm>
          <a:prstGeom prst="rect">
            <a:avLst/>
          </a:prstGeom>
          <a:noFill/>
          <a:ln/>
        </p:spPr>
        <p:txBody>
          <a:bodyPr wrap="square" lIns="0" tIns="0" rIns="0" bIns="0" rtlCol="0" anchor="t"/>
          <a:lstStyle/>
          <a:p>
            <a:pPr marL="0" indent="0" algn="l">
              <a:lnSpc>
                <a:spcPts val="4700"/>
              </a:lnSpc>
              <a:buNone/>
            </a:pPr>
            <a:r>
              <a:rPr lang="en-US" sz="3750" dirty="0">
                <a:solidFill>
                  <a:srgbClr val="585E60"/>
                </a:solidFill>
                <a:latin typeface="Noto Sans" pitchFamily="34" charset="0"/>
                <a:ea typeface="Noto Sans" pitchFamily="34" charset="-122"/>
                <a:cs typeface="Noto Sans" pitchFamily="34" charset="-120"/>
              </a:rPr>
              <a:t>Key Conclusions: The Prediction Modeling Pipeline</a:t>
            </a:r>
            <a:endParaRPr lang="en-US" sz="3750" dirty="0"/>
          </a:p>
        </p:txBody>
      </p:sp>
      <p:sp>
        <p:nvSpPr>
          <p:cNvPr id="4" name="Shape 1"/>
          <p:cNvSpPr/>
          <p:nvPr/>
        </p:nvSpPr>
        <p:spPr>
          <a:xfrm>
            <a:off x="6488668" y="2100620"/>
            <a:ext cx="22860" cy="5509855"/>
          </a:xfrm>
          <a:prstGeom prst="roundRect">
            <a:avLst>
              <a:gd name="adj" fmla="val 351305"/>
            </a:avLst>
          </a:prstGeom>
          <a:solidFill>
            <a:srgbClr val="BFCDD8"/>
          </a:solidFill>
          <a:ln/>
        </p:spPr>
        <p:txBody>
          <a:bodyPr/>
          <a:lstStyle/>
          <a:p>
            <a:endParaRPr lang="en-US"/>
          </a:p>
        </p:txBody>
      </p:sp>
      <p:sp>
        <p:nvSpPr>
          <p:cNvPr id="5" name="Shape 2"/>
          <p:cNvSpPr/>
          <p:nvPr/>
        </p:nvSpPr>
        <p:spPr>
          <a:xfrm>
            <a:off x="6680895" y="2304217"/>
            <a:ext cx="573524" cy="22860"/>
          </a:xfrm>
          <a:prstGeom prst="roundRect">
            <a:avLst>
              <a:gd name="adj" fmla="val 351305"/>
            </a:avLst>
          </a:prstGeom>
          <a:solidFill>
            <a:srgbClr val="BFCDD8"/>
          </a:solidFill>
          <a:ln/>
        </p:spPr>
        <p:txBody>
          <a:bodyPr/>
          <a:lstStyle/>
          <a:p>
            <a:endParaRPr lang="en-US"/>
          </a:p>
        </p:txBody>
      </p:sp>
      <p:sp>
        <p:nvSpPr>
          <p:cNvPr id="6" name="Shape 3"/>
          <p:cNvSpPr/>
          <p:nvPr/>
        </p:nvSpPr>
        <p:spPr>
          <a:xfrm>
            <a:off x="6273582" y="2100620"/>
            <a:ext cx="430173" cy="430173"/>
          </a:xfrm>
          <a:prstGeom prst="roundRect">
            <a:avLst>
              <a:gd name="adj" fmla="val 18669"/>
            </a:avLst>
          </a:prstGeom>
          <a:solidFill>
            <a:srgbClr val="D9E7F2"/>
          </a:solidFill>
          <a:ln w="7620">
            <a:solidFill>
              <a:srgbClr val="BFCDD8"/>
            </a:solidFill>
            <a:prstDash val="solid"/>
          </a:ln>
        </p:spPr>
        <p:txBody>
          <a:bodyPr/>
          <a:lstStyle/>
          <a:p>
            <a:endParaRPr lang="en-US"/>
          </a:p>
        </p:txBody>
      </p:sp>
      <p:sp>
        <p:nvSpPr>
          <p:cNvPr id="7" name="Text 4"/>
          <p:cNvSpPr/>
          <p:nvPr/>
        </p:nvSpPr>
        <p:spPr>
          <a:xfrm>
            <a:off x="6345257" y="2136398"/>
            <a:ext cx="286703" cy="358497"/>
          </a:xfrm>
          <a:prstGeom prst="rect">
            <a:avLst/>
          </a:prstGeom>
          <a:noFill/>
          <a:ln/>
        </p:spPr>
        <p:txBody>
          <a:bodyPr wrap="none" lIns="0" tIns="0" rIns="0" bIns="0" rtlCol="0" anchor="t"/>
          <a:lstStyle/>
          <a:p>
            <a:pPr marL="0" indent="0" algn="ctr">
              <a:lnSpc>
                <a:spcPts val="2250"/>
              </a:lnSpc>
              <a:buNone/>
            </a:pPr>
            <a:r>
              <a:rPr lang="en-US" sz="2250" dirty="0">
                <a:solidFill>
                  <a:srgbClr val="585E60"/>
                </a:solidFill>
                <a:latin typeface="Noto Sans" pitchFamily="34" charset="0"/>
                <a:ea typeface="Noto Sans" pitchFamily="34" charset="-122"/>
                <a:cs typeface="Noto Sans" pitchFamily="34" charset="-120"/>
              </a:rPr>
              <a:t>1</a:t>
            </a:r>
            <a:endParaRPr lang="en-US" sz="2250" dirty="0"/>
          </a:p>
        </p:txBody>
      </p:sp>
      <p:sp>
        <p:nvSpPr>
          <p:cNvPr id="8" name="Text 5"/>
          <p:cNvSpPr/>
          <p:nvPr/>
        </p:nvSpPr>
        <p:spPr>
          <a:xfrm>
            <a:off x="7444740" y="2166342"/>
            <a:ext cx="2758083" cy="298609"/>
          </a:xfrm>
          <a:prstGeom prst="rect">
            <a:avLst/>
          </a:prstGeom>
          <a:noFill/>
          <a:ln/>
        </p:spPr>
        <p:txBody>
          <a:bodyPr wrap="none" lIns="0" tIns="0" rIns="0" bIns="0" rtlCol="0" anchor="t"/>
          <a:lstStyle/>
          <a:p>
            <a:pPr marL="0" indent="0" algn="l">
              <a:lnSpc>
                <a:spcPts val="2350"/>
              </a:lnSpc>
              <a:buNone/>
            </a:pPr>
            <a:r>
              <a:rPr lang="en-US" sz="1850" dirty="0">
                <a:solidFill>
                  <a:srgbClr val="585E60"/>
                </a:solidFill>
                <a:latin typeface="Noto Sans" pitchFamily="34" charset="0"/>
                <a:ea typeface="Noto Sans" pitchFamily="34" charset="-122"/>
                <a:cs typeface="Noto Sans" pitchFamily="34" charset="-120"/>
              </a:rPr>
              <a:t>1. Rigorous Phenotyping</a:t>
            </a:r>
            <a:endParaRPr lang="en-US" sz="1850" dirty="0"/>
          </a:p>
        </p:txBody>
      </p:sp>
      <p:sp>
        <p:nvSpPr>
          <p:cNvPr id="9" name="Text 6"/>
          <p:cNvSpPr/>
          <p:nvPr/>
        </p:nvSpPr>
        <p:spPr>
          <a:xfrm>
            <a:off x="7444740" y="2579608"/>
            <a:ext cx="6398419" cy="611743"/>
          </a:xfrm>
          <a:prstGeom prst="rect">
            <a:avLst/>
          </a:prstGeom>
          <a:noFill/>
          <a:ln/>
        </p:spPr>
        <p:txBody>
          <a:bodyPr wrap="square" lIns="0" tIns="0" rIns="0" bIns="0" rtlCol="0" anchor="t"/>
          <a:lstStyle/>
          <a:p>
            <a:pPr marL="0" indent="0" algn="l">
              <a:lnSpc>
                <a:spcPts val="2400"/>
              </a:lnSpc>
              <a:buNone/>
            </a:pPr>
            <a:r>
              <a:rPr lang="en-US" sz="1500" dirty="0">
                <a:solidFill>
                  <a:srgbClr val="585E60"/>
                </a:solidFill>
                <a:latin typeface="Noto Serif" pitchFamily="34" charset="0"/>
                <a:ea typeface="Noto Serif" pitchFamily="34" charset="-122"/>
                <a:cs typeface="Noto Serif" pitchFamily="34" charset="-120"/>
              </a:rPr>
              <a:t>Use ML and statistical methods to define reliable outcome labels when gold standards are limited</a:t>
            </a:r>
            <a:endParaRPr lang="en-US" sz="1500" dirty="0"/>
          </a:p>
        </p:txBody>
      </p:sp>
      <p:sp>
        <p:nvSpPr>
          <p:cNvPr id="10" name="Shape 7"/>
          <p:cNvSpPr/>
          <p:nvPr/>
        </p:nvSpPr>
        <p:spPr>
          <a:xfrm>
            <a:off x="6680895" y="3777258"/>
            <a:ext cx="573524" cy="22860"/>
          </a:xfrm>
          <a:prstGeom prst="roundRect">
            <a:avLst>
              <a:gd name="adj" fmla="val 351305"/>
            </a:avLst>
          </a:prstGeom>
          <a:solidFill>
            <a:srgbClr val="BFCDD8"/>
          </a:solidFill>
          <a:ln/>
        </p:spPr>
        <p:txBody>
          <a:bodyPr/>
          <a:lstStyle/>
          <a:p>
            <a:endParaRPr lang="en-US"/>
          </a:p>
        </p:txBody>
      </p:sp>
      <p:sp>
        <p:nvSpPr>
          <p:cNvPr id="11" name="Shape 8"/>
          <p:cNvSpPr/>
          <p:nvPr/>
        </p:nvSpPr>
        <p:spPr>
          <a:xfrm>
            <a:off x="6273582" y="3573661"/>
            <a:ext cx="430173" cy="430173"/>
          </a:xfrm>
          <a:prstGeom prst="roundRect">
            <a:avLst>
              <a:gd name="adj" fmla="val 18669"/>
            </a:avLst>
          </a:prstGeom>
          <a:solidFill>
            <a:srgbClr val="D9E7F2"/>
          </a:solidFill>
          <a:ln w="7620">
            <a:solidFill>
              <a:srgbClr val="BFCDD8"/>
            </a:solidFill>
            <a:prstDash val="solid"/>
          </a:ln>
        </p:spPr>
        <p:txBody>
          <a:bodyPr/>
          <a:lstStyle/>
          <a:p>
            <a:endParaRPr lang="en-US"/>
          </a:p>
        </p:txBody>
      </p:sp>
      <p:sp>
        <p:nvSpPr>
          <p:cNvPr id="12" name="Text 9"/>
          <p:cNvSpPr/>
          <p:nvPr/>
        </p:nvSpPr>
        <p:spPr>
          <a:xfrm>
            <a:off x="6345257" y="3609439"/>
            <a:ext cx="286703" cy="358497"/>
          </a:xfrm>
          <a:prstGeom prst="rect">
            <a:avLst/>
          </a:prstGeom>
          <a:noFill/>
          <a:ln/>
        </p:spPr>
        <p:txBody>
          <a:bodyPr wrap="none" lIns="0" tIns="0" rIns="0" bIns="0" rtlCol="0" anchor="t"/>
          <a:lstStyle/>
          <a:p>
            <a:pPr marL="0" indent="0" algn="ctr">
              <a:lnSpc>
                <a:spcPts val="2250"/>
              </a:lnSpc>
              <a:buNone/>
            </a:pPr>
            <a:r>
              <a:rPr lang="en-US" sz="2250" dirty="0">
                <a:solidFill>
                  <a:srgbClr val="585E60"/>
                </a:solidFill>
                <a:latin typeface="Noto Sans" pitchFamily="34" charset="0"/>
                <a:ea typeface="Noto Sans" pitchFamily="34" charset="-122"/>
                <a:cs typeface="Noto Sans" pitchFamily="34" charset="-120"/>
              </a:rPr>
              <a:t>2</a:t>
            </a:r>
            <a:endParaRPr lang="en-US" sz="2250" dirty="0"/>
          </a:p>
        </p:txBody>
      </p:sp>
      <p:sp>
        <p:nvSpPr>
          <p:cNvPr id="13" name="Text 10"/>
          <p:cNvSpPr/>
          <p:nvPr/>
        </p:nvSpPr>
        <p:spPr>
          <a:xfrm>
            <a:off x="7444740" y="3639383"/>
            <a:ext cx="2390061" cy="298609"/>
          </a:xfrm>
          <a:prstGeom prst="rect">
            <a:avLst/>
          </a:prstGeom>
          <a:noFill/>
          <a:ln/>
        </p:spPr>
        <p:txBody>
          <a:bodyPr wrap="none" lIns="0" tIns="0" rIns="0" bIns="0" rtlCol="0" anchor="t"/>
          <a:lstStyle/>
          <a:p>
            <a:pPr marL="0" indent="0" algn="l">
              <a:lnSpc>
                <a:spcPts val="2350"/>
              </a:lnSpc>
              <a:buNone/>
            </a:pPr>
            <a:r>
              <a:rPr lang="en-US" sz="1850" dirty="0">
                <a:solidFill>
                  <a:srgbClr val="585E60"/>
                </a:solidFill>
                <a:latin typeface="Noto Sans" pitchFamily="34" charset="0"/>
                <a:ea typeface="Noto Sans" pitchFamily="34" charset="-122"/>
                <a:cs typeface="Noto Sans" pitchFamily="34" charset="-120"/>
              </a:rPr>
              <a:t>2. Flexible Modeling</a:t>
            </a:r>
            <a:endParaRPr lang="en-US" sz="1850" dirty="0"/>
          </a:p>
        </p:txBody>
      </p:sp>
      <p:sp>
        <p:nvSpPr>
          <p:cNvPr id="14" name="Text 11"/>
          <p:cNvSpPr/>
          <p:nvPr/>
        </p:nvSpPr>
        <p:spPr>
          <a:xfrm>
            <a:off x="7444740" y="4052649"/>
            <a:ext cx="6398419" cy="611743"/>
          </a:xfrm>
          <a:prstGeom prst="rect">
            <a:avLst/>
          </a:prstGeom>
          <a:noFill/>
          <a:ln/>
        </p:spPr>
        <p:txBody>
          <a:bodyPr wrap="square" lIns="0" tIns="0" rIns="0" bIns="0" rtlCol="0" anchor="t"/>
          <a:lstStyle/>
          <a:p>
            <a:pPr marL="0" indent="0" algn="l">
              <a:lnSpc>
                <a:spcPts val="2400"/>
              </a:lnSpc>
              <a:buNone/>
            </a:pPr>
            <a:r>
              <a:rPr lang="en-US" sz="1500" dirty="0">
                <a:solidFill>
                  <a:srgbClr val="585E60"/>
                </a:solidFill>
                <a:latin typeface="Noto Serif" pitchFamily="34" charset="0"/>
                <a:ea typeface="Noto Serif" pitchFamily="34" charset="-122"/>
                <a:cs typeface="Noto Serif" pitchFamily="34" charset="-120"/>
              </a:rPr>
              <a:t>Integrate diverse data types (clinical, genomic, imaging) using appropriate statistical and ML frameworks</a:t>
            </a:r>
            <a:endParaRPr lang="en-US" sz="1500" dirty="0"/>
          </a:p>
        </p:txBody>
      </p:sp>
      <p:sp>
        <p:nvSpPr>
          <p:cNvPr id="15" name="Shape 12"/>
          <p:cNvSpPr/>
          <p:nvPr/>
        </p:nvSpPr>
        <p:spPr>
          <a:xfrm>
            <a:off x="6680895" y="5250299"/>
            <a:ext cx="573524" cy="22860"/>
          </a:xfrm>
          <a:prstGeom prst="roundRect">
            <a:avLst>
              <a:gd name="adj" fmla="val 351305"/>
            </a:avLst>
          </a:prstGeom>
          <a:solidFill>
            <a:srgbClr val="BFCDD8"/>
          </a:solidFill>
          <a:ln/>
        </p:spPr>
        <p:txBody>
          <a:bodyPr/>
          <a:lstStyle/>
          <a:p>
            <a:endParaRPr lang="en-US"/>
          </a:p>
        </p:txBody>
      </p:sp>
      <p:sp>
        <p:nvSpPr>
          <p:cNvPr id="16" name="Shape 13"/>
          <p:cNvSpPr/>
          <p:nvPr/>
        </p:nvSpPr>
        <p:spPr>
          <a:xfrm>
            <a:off x="6273582" y="5046702"/>
            <a:ext cx="430173" cy="430173"/>
          </a:xfrm>
          <a:prstGeom prst="roundRect">
            <a:avLst>
              <a:gd name="adj" fmla="val 18669"/>
            </a:avLst>
          </a:prstGeom>
          <a:solidFill>
            <a:srgbClr val="D9E7F2"/>
          </a:solidFill>
          <a:ln w="7620">
            <a:solidFill>
              <a:srgbClr val="BFCDD8"/>
            </a:solidFill>
            <a:prstDash val="solid"/>
          </a:ln>
        </p:spPr>
        <p:txBody>
          <a:bodyPr/>
          <a:lstStyle/>
          <a:p>
            <a:endParaRPr lang="en-US"/>
          </a:p>
        </p:txBody>
      </p:sp>
      <p:sp>
        <p:nvSpPr>
          <p:cNvPr id="17" name="Text 14"/>
          <p:cNvSpPr/>
          <p:nvPr/>
        </p:nvSpPr>
        <p:spPr>
          <a:xfrm>
            <a:off x="6345257" y="5082480"/>
            <a:ext cx="286703" cy="358497"/>
          </a:xfrm>
          <a:prstGeom prst="rect">
            <a:avLst/>
          </a:prstGeom>
          <a:noFill/>
          <a:ln/>
        </p:spPr>
        <p:txBody>
          <a:bodyPr wrap="none" lIns="0" tIns="0" rIns="0" bIns="0" rtlCol="0" anchor="t"/>
          <a:lstStyle/>
          <a:p>
            <a:pPr marL="0" indent="0" algn="ctr">
              <a:lnSpc>
                <a:spcPts val="2250"/>
              </a:lnSpc>
              <a:buNone/>
            </a:pPr>
            <a:r>
              <a:rPr lang="en-US" sz="2250" dirty="0">
                <a:solidFill>
                  <a:srgbClr val="585E60"/>
                </a:solidFill>
                <a:latin typeface="Noto Sans" pitchFamily="34" charset="0"/>
                <a:ea typeface="Noto Sans" pitchFamily="34" charset="-122"/>
                <a:cs typeface="Noto Sans" pitchFamily="34" charset="-120"/>
              </a:rPr>
              <a:t>3</a:t>
            </a:r>
            <a:endParaRPr lang="en-US" sz="2250" dirty="0"/>
          </a:p>
        </p:txBody>
      </p:sp>
      <p:sp>
        <p:nvSpPr>
          <p:cNvPr id="18" name="Text 15"/>
          <p:cNvSpPr/>
          <p:nvPr/>
        </p:nvSpPr>
        <p:spPr>
          <a:xfrm>
            <a:off x="7444740" y="5112425"/>
            <a:ext cx="2390061" cy="298609"/>
          </a:xfrm>
          <a:prstGeom prst="rect">
            <a:avLst/>
          </a:prstGeom>
          <a:noFill/>
          <a:ln/>
        </p:spPr>
        <p:txBody>
          <a:bodyPr wrap="none" lIns="0" tIns="0" rIns="0" bIns="0" rtlCol="0" anchor="t"/>
          <a:lstStyle/>
          <a:p>
            <a:pPr marL="0" indent="0" algn="l">
              <a:lnSpc>
                <a:spcPts val="2350"/>
              </a:lnSpc>
              <a:buNone/>
            </a:pPr>
            <a:r>
              <a:rPr lang="en-US" sz="1850" dirty="0">
                <a:solidFill>
                  <a:srgbClr val="585E60"/>
                </a:solidFill>
                <a:latin typeface="Noto Sans" pitchFamily="34" charset="0"/>
                <a:ea typeface="Noto Sans" pitchFamily="34" charset="-122"/>
                <a:cs typeface="Noto Sans" pitchFamily="34" charset="-120"/>
              </a:rPr>
              <a:t>3. AI Integration</a:t>
            </a:r>
            <a:endParaRPr lang="en-US" sz="1850" dirty="0"/>
          </a:p>
        </p:txBody>
      </p:sp>
      <p:sp>
        <p:nvSpPr>
          <p:cNvPr id="19" name="Text 16"/>
          <p:cNvSpPr/>
          <p:nvPr/>
        </p:nvSpPr>
        <p:spPr>
          <a:xfrm>
            <a:off x="7444740" y="5525691"/>
            <a:ext cx="6398419" cy="611743"/>
          </a:xfrm>
          <a:prstGeom prst="rect">
            <a:avLst/>
          </a:prstGeom>
          <a:noFill/>
          <a:ln/>
        </p:spPr>
        <p:txBody>
          <a:bodyPr wrap="square" lIns="0" tIns="0" rIns="0" bIns="0" rtlCol="0" anchor="t"/>
          <a:lstStyle/>
          <a:p>
            <a:pPr marL="0" indent="0" algn="l">
              <a:lnSpc>
                <a:spcPts val="2400"/>
              </a:lnSpc>
              <a:buNone/>
            </a:pPr>
            <a:r>
              <a:rPr lang="en-US" sz="1500" dirty="0">
                <a:solidFill>
                  <a:srgbClr val="585E60"/>
                </a:solidFill>
                <a:latin typeface="Noto Serif" pitchFamily="34" charset="0"/>
                <a:ea typeface="Noto Serif" pitchFamily="34" charset="-122"/>
                <a:cs typeface="Noto Serif" pitchFamily="34" charset="-120"/>
              </a:rPr>
              <a:t>Thoughtfully combine black-box AI predictions with interpretable statistical models for maximum clinical utility</a:t>
            </a:r>
            <a:endParaRPr lang="en-US" sz="1500" dirty="0"/>
          </a:p>
        </p:txBody>
      </p:sp>
      <p:sp>
        <p:nvSpPr>
          <p:cNvPr id="20" name="Shape 17"/>
          <p:cNvSpPr/>
          <p:nvPr/>
        </p:nvSpPr>
        <p:spPr>
          <a:xfrm>
            <a:off x="6680895" y="6723340"/>
            <a:ext cx="573524" cy="22860"/>
          </a:xfrm>
          <a:prstGeom prst="roundRect">
            <a:avLst>
              <a:gd name="adj" fmla="val 351305"/>
            </a:avLst>
          </a:prstGeom>
          <a:solidFill>
            <a:srgbClr val="BFCDD8"/>
          </a:solidFill>
          <a:ln/>
        </p:spPr>
        <p:txBody>
          <a:bodyPr/>
          <a:lstStyle/>
          <a:p>
            <a:endParaRPr lang="en-US"/>
          </a:p>
        </p:txBody>
      </p:sp>
      <p:sp>
        <p:nvSpPr>
          <p:cNvPr id="21" name="Shape 18"/>
          <p:cNvSpPr/>
          <p:nvPr/>
        </p:nvSpPr>
        <p:spPr>
          <a:xfrm>
            <a:off x="6273582" y="6519743"/>
            <a:ext cx="430173" cy="430173"/>
          </a:xfrm>
          <a:prstGeom prst="roundRect">
            <a:avLst>
              <a:gd name="adj" fmla="val 18669"/>
            </a:avLst>
          </a:prstGeom>
          <a:solidFill>
            <a:srgbClr val="D9E7F2"/>
          </a:solidFill>
          <a:ln w="7620">
            <a:solidFill>
              <a:srgbClr val="BFCDD8"/>
            </a:solidFill>
            <a:prstDash val="solid"/>
          </a:ln>
        </p:spPr>
        <p:txBody>
          <a:bodyPr/>
          <a:lstStyle/>
          <a:p>
            <a:endParaRPr lang="en-US"/>
          </a:p>
        </p:txBody>
      </p:sp>
      <p:sp>
        <p:nvSpPr>
          <p:cNvPr id="22" name="Text 19"/>
          <p:cNvSpPr/>
          <p:nvPr/>
        </p:nvSpPr>
        <p:spPr>
          <a:xfrm>
            <a:off x="6345257" y="6555522"/>
            <a:ext cx="286703" cy="358497"/>
          </a:xfrm>
          <a:prstGeom prst="rect">
            <a:avLst/>
          </a:prstGeom>
          <a:noFill/>
          <a:ln/>
        </p:spPr>
        <p:txBody>
          <a:bodyPr wrap="none" lIns="0" tIns="0" rIns="0" bIns="0" rtlCol="0" anchor="t"/>
          <a:lstStyle/>
          <a:p>
            <a:pPr marL="0" indent="0" algn="ctr">
              <a:lnSpc>
                <a:spcPts val="2250"/>
              </a:lnSpc>
              <a:buNone/>
            </a:pPr>
            <a:r>
              <a:rPr lang="en-US" sz="2250" dirty="0">
                <a:solidFill>
                  <a:srgbClr val="585E60"/>
                </a:solidFill>
                <a:latin typeface="Noto Sans" pitchFamily="34" charset="0"/>
                <a:ea typeface="Noto Sans" pitchFamily="34" charset="-122"/>
                <a:cs typeface="Noto Sans" pitchFamily="34" charset="-120"/>
              </a:rPr>
              <a:t>4</a:t>
            </a:r>
            <a:endParaRPr lang="en-US" sz="2250" dirty="0"/>
          </a:p>
        </p:txBody>
      </p:sp>
      <p:sp>
        <p:nvSpPr>
          <p:cNvPr id="23" name="Text 20"/>
          <p:cNvSpPr/>
          <p:nvPr/>
        </p:nvSpPr>
        <p:spPr>
          <a:xfrm>
            <a:off x="7444740" y="6585466"/>
            <a:ext cx="2444591" cy="298609"/>
          </a:xfrm>
          <a:prstGeom prst="rect">
            <a:avLst/>
          </a:prstGeom>
          <a:noFill/>
          <a:ln/>
        </p:spPr>
        <p:txBody>
          <a:bodyPr wrap="none" lIns="0" tIns="0" rIns="0" bIns="0" rtlCol="0" anchor="t"/>
          <a:lstStyle/>
          <a:p>
            <a:pPr marL="0" indent="0" algn="l">
              <a:lnSpc>
                <a:spcPts val="2350"/>
              </a:lnSpc>
              <a:buNone/>
            </a:pPr>
            <a:r>
              <a:rPr lang="en-US" sz="1850" dirty="0">
                <a:solidFill>
                  <a:srgbClr val="585E60"/>
                </a:solidFill>
                <a:latin typeface="Noto Sans" pitchFamily="34" charset="0"/>
                <a:ea typeface="Noto Sans" pitchFamily="34" charset="-122"/>
                <a:cs typeface="Noto Sans" pitchFamily="34" charset="-120"/>
              </a:rPr>
              <a:t>4. Rigorous Validation</a:t>
            </a:r>
            <a:endParaRPr lang="en-US" sz="1850" dirty="0"/>
          </a:p>
        </p:txBody>
      </p:sp>
      <p:sp>
        <p:nvSpPr>
          <p:cNvPr id="24" name="Text 21"/>
          <p:cNvSpPr/>
          <p:nvPr/>
        </p:nvSpPr>
        <p:spPr>
          <a:xfrm>
            <a:off x="7444740" y="6998732"/>
            <a:ext cx="6398419" cy="611743"/>
          </a:xfrm>
          <a:prstGeom prst="rect">
            <a:avLst/>
          </a:prstGeom>
          <a:noFill/>
          <a:ln/>
        </p:spPr>
        <p:txBody>
          <a:bodyPr wrap="square" lIns="0" tIns="0" rIns="0" bIns="0" rtlCol="0" anchor="t"/>
          <a:lstStyle/>
          <a:p>
            <a:pPr marL="0" indent="0" algn="l">
              <a:lnSpc>
                <a:spcPts val="2400"/>
              </a:lnSpc>
              <a:buNone/>
            </a:pPr>
            <a:r>
              <a:rPr lang="en-US" sz="1500" dirty="0">
                <a:solidFill>
                  <a:srgbClr val="585E60"/>
                </a:solidFill>
                <a:latin typeface="Noto Serif" pitchFamily="34" charset="0"/>
                <a:ea typeface="Noto Serif" pitchFamily="34" charset="-122"/>
                <a:cs typeface="Noto Serif" pitchFamily="34" charset="-120"/>
              </a:rPr>
              <a:t>Assess calibration, clinical utility, and real-world performance—not just AUC</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56059"/>
            <a:ext cx="11986498" cy="637937"/>
          </a:xfrm>
          <a:prstGeom prst="rect">
            <a:avLst/>
          </a:prstGeom>
          <a:noFill/>
          <a:ln/>
        </p:spPr>
        <p:txBody>
          <a:bodyPr wrap="none" lIns="0" tIns="0" rIns="0" bIns="0" rtlCol="0" anchor="t"/>
          <a:lstStyle/>
          <a:p>
            <a:pPr marL="0" indent="0" algn="l">
              <a:lnSpc>
                <a:spcPts val="5000"/>
              </a:lnSpc>
              <a:buNone/>
            </a:pPr>
            <a:r>
              <a:rPr lang="en-US" sz="4000" dirty="0">
                <a:solidFill>
                  <a:srgbClr val="585E60"/>
                </a:solidFill>
                <a:latin typeface="Noto Sans" pitchFamily="34" charset="0"/>
                <a:ea typeface="Noto Sans" pitchFamily="34" charset="-122"/>
                <a:cs typeface="Noto Sans" pitchFamily="34" charset="-120"/>
              </a:rPr>
              <a:t>Critical Validation and Implementation Challenges</a:t>
            </a:r>
            <a:endParaRPr lang="en-US" sz="4000" dirty="0"/>
          </a:p>
        </p:txBody>
      </p:sp>
      <p:sp>
        <p:nvSpPr>
          <p:cNvPr id="3" name="Shape 1"/>
          <p:cNvSpPr/>
          <p:nvPr/>
        </p:nvSpPr>
        <p:spPr>
          <a:xfrm>
            <a:off x="793790" y="1902262"/>
            <a:ext cx="4211479" cy="5471160"/>
          </a:xfrm>
          <a:prstGeom prst="roundRect">
            <a:avLst>
              <a:gd name="adj" fmla="val 2036"/>
            </a:avLst>
          </a:prstGeom>
          <a:solidFill>
            <a:srgbClr val="FFFFFF"/>
          </a:solidFill>
          <a:ln w="22860">
            <a:solidFill>
              <a:srgbClr val="BFCDD8"/>
            </a:solidFill>
            <a:prstDash val="solid"/>
          </a:ln>
        </p:spPr>
        <p:txBody>
          <a:bodyPr/>
          <a:lstStyle/>
          <a:p>
            <a:endParaRPr lang="en-US"/>
          </a:p>
        </p:txBody>
      </p:sp>
      <p:sp>
        <p:nvSpPr>
          <p:cNvPr id="4" name="Text 2"/>
          <p:cNvSpPr/>
          <p:nvPr/>
        </p:nvSpPr>
        <p:spPr>
          <a:xfrm>
            <a:off x="1020723" y="2129195"/>
            <a:ext cx="3757613" cy="637699"/>
          </a:xfrm>
          <a:prstGeom prst="rect">
            <a:avLst/>
          </a:prstGeom>
          <a:noFill/>
          <a:ln/>
        </p:spPr>
        <p:txBody>
          <a:bodyPr wrap="square" lIns="0" tIns="0" rIns="0" bIns="0" rtlCol="0" anchor="t"/>
          <a:lstStyle/>
          <a:p>
            <a:pPr marL="0" indent="0" algn="l">
              <a:lnSpc>
                <a:spcPts val="2500"/>
              </a:lnSpc>
              <a:buNone/>
            </a:pPr>
            <a:r>
              <a:rPr lang="en-US" sz="2000" dirty="0">
                <a:solidFill>
                  <a:srgbClr val="585E60"/>
                </a:solidFill>
                <a:latin typeface="Noto Sans" pitchFamily="34" charset="0"/>
                <a:ea typeface="Noto Sans" pitchFamily="34" charset="-122"/>
                <a:cs typeface="Noto Sans" pitchFamily="34" charset="-120"/>
              </a:rPr>
              <a:t>Beyond AUC: Comprehensive Validation</a:t>
            </a:r>
            <a:endParaRPr lang="en-US" sz="2000" dirty="0"/>
          </a:p>
        </p:txBody>
      </p:sp>
      <p:sp>
        <p:nvSpPr>
          <p:cNvPr id="5" name="Text 3"/>
          <p:cNvSpPr/>
          <p:nvPr/>
        </p:nvSpPr>
        <p:spPr>
          <a:xfrm>
            <a:off x="1020723" y="2889290"/>
            <a:ext cx="3757613" cy="980123"/>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585E60"/>
                </a:solidFill>
                <a:latin typeface="Noto Serif" pitchFamily="34" charset="0"/>
                <a:ea typeface="Noto Serif" pitchFamily="34" charset="-122"/>
                <a:cs typeface="Noto Serif" pitchFamily="34" charset="-120"/>
              </a:rPr>
              <a:t>Calibration:</a:t>
            </a:r>
            <a:r>
              <a:rPr lang="en-US" sz="1600" dirty="0">
                <a:solidFill>
                  <a:srgbClr val="585E60"/>
                </a:solidFill>
                <a:latin typeface="Noto Serif" pitchFamily="34" charset="0"/>
                <a:ea typeface="Noto Serif" pitchFamily="34" charset="-122"/>
                <a:cs typeface="Noto Serif" pitchFamily="34" charset="-120"/>
              </a:rPr>
              <a:t> Do predicted 30% risks match observed 30% event rates?</a:t>
            </a:r>
            <a:endParaRPr lang="en-US" sz="1600" dirty="0"/>
          </a:p>
        </p:txBody>
      </p:sp>
      <p:sp>
        <p:nvSpPr>
          <p:cNvPr id="6" name="Text 4"/>
          <p:cNvSpPr/>
          <p:nvPr/>
        </p:nvSpPr>
        <p:spPr>
          <a:xfrm>
            <a:off x="1020723" y="3940850"/>
            <a:ext cx="3757613" cy="980123"/>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585E60"/>
                </a:solidFill>
                <a:latin typeface="Noto Serif" pitchFamily="34" charset="0"/>
                <a:ea typeface="Noto Serif" pitchFamily="34" charset="-122"/>
                <a:cs typeface="Noto Serif" pitchFamily="34" charset="-120"/>
              </a:rPr>
              <a:t>Clinical Utility:</a:t>
            </a:r>
            <a:r>
              <a:rPr lang="en-US" sz="1600" dirty="0">
                <a:solidFill>
                  <a:srgbClr val="585E60"/>
                </a:solidFill>
                <a:latin typeface="Noto Serif" pitchFamily="34" charset="0"/>
                <a:ea typeface="Noto Serif" pitchFamily="34" charset="-122"/>
                <a:cs typeface="Noto Serif" pitchFamily="34" charset="-120"/>
              </a:rPr>
              <a:t> Does the model change clinical management decisions?</a:t>
            </a:r>
            <a:endParaRPr lang="en-US" sz="1600" dirty="0"/>
          </a:p>
        </p:txBody>
      </p:sp>
      <p:sp>
        <p:nvSpPr>
          <p:cNvPr id="7" name="Text 5"/>
          <p:cNvSpPr/>
          <p:nvPr/>
        </p:nvSpPr>
        <p:spPr>
          <a:xfrm>
            <a:off x="1020723" y="4992410"/>
            <a:ext cx="3757613" cy="980123"/>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585E60"/>
                </a:solidFill>
                <a:latin typeface="Noto Serif" pitchFamily="34" charset="0"/>
                <a:ea typeface="Noto Serif" pitchFamily="34" charset="-122"/>
                <a:cs typeface="Noto Serif" pitchFamily="34" charset="-120"/>
              </a:rPr>
              <a:t>PPV/NPV:</a:t>
            </a:r>
            <a:r>
              <a:rPr lang="en-US" sz="1600" dirty="0">
                <a:solidFill>
                  <a:srgbClr val="585E60"/>
                </a:solidFill>
                <a:latin typeface="Noto Serif" pitchFamily="34" charset="0"/>
                <a:ea typeface="Noto Serif" pitchFamily="34" charset="-122"/>
                <a:cs typeface="Noto Serif" pitchFamily="34" charset="-120"/>
              </a:rPr>
              <a:t> What is real-world predictive performance in target populations?</a:t>
            </a:r>
            <a:endParaRPr lang="en-US" sz="1600" dirty="0"/>
          </a:p>
        </p:txBody>
      </p:sp>
      <p:sp>
        <p:nvSpPr>
          <p:cNvPr id="8" name="Shape 6"/>
          <p:cNvSpPr/>
          <p:nvPr/>
        </p:nvSpPr>
        <p:spPr>
          <a:xfrm>
            <a:off x="5209342" y="1902262"/>
            <a:ext cx="4211598" cy="5471160"/>
          </a:xfrm>
          <a:prstGeom prst="roundRect">
            <a:avLst>
              <a:gd name="adj" fmla="val 2036"/>
            </a:avLst>
          </a:prstGeom>
          <a:solidFill>
            <a:srgbClr val="FFFFFF"/>
          </a:solidFill>
          <a:ln w="22860">
            <a:solidFill>
              <a:srgbClr val="BFCDD8"/>
            </a:solidFill>
            <a:prstDash val="solid"/>
          </a:ln>
        </p:spPr>
        <p:txBody>
          <a:bodyPr/>
          <a:lstStyle/>
          <a:p>
            <a:endParaRPr lang="en-US"/>
          </a:p>
        </p:txBody>
      </p:sp>
      <p:sp>
        <p:nvSpPr>
          <p:cNvPr id="9" name="Text 7"/>
          <p:cNvSpPr/>
          <p:nvPr/>
        </p:nvSpPr>
        <p:spPr>
          <a:xfrm>
            <a:off x="5436275" y="2129195"/>
            <a:ext cx="3757732" cy="637699"/>
          </a:xfrm>
          <a:prstGeom prst="rect">
            <a:avLst/>
          </a:prstGeom>
          <a:noFill/>
          <a:ln/>
        </p:spPr>
        <p:txBody>
          <a:bodyPr wrap="square" lIns="0" tIns="0" rIns="0" bIns="0" rtlCol="0" anchor="t"/>
          <a:lstStyle/>
          <a:p>
            <a:pPr marL="0" indent="0" algn="l">
              <a:lnSpc>
                <a:spcPts val="2500"/>
              </a:lnSpc>
              <a:buNone/>
            </a:pPr>
            <a:r>
              <a:rPr lang="en-US" sz="2000" dirty="0">
                <a:solidFill>
                  <a:srgbClr val="585E60"/>
                </a:solidFill>
                <a:latin typeface="Noto Sans" pitchFamily="34" charset="0"/>
                <a:ea typeface="Noto Sans" pitchFamily="34" charset="-122"/>
                <a:cs typeface="Noto Sans" pitchFamily="34" charset="-120"/>
              </a:rPr>
              <a:t>Power Analysis and Grant Strategy</a:t>
            </a:r>
            <a:endParaRPr lang="en-US" sz="2000" dirty="0"/>
          </a:p>
        </p:txBody>
      </p:sp>
      <p:sp>
        <p:nvSpPr>
          <p:cNvPr id="10" name="Text 8"/>
          <p:cNvSpPr/>
          <p:nvPr/>
        </p:nvSpPr>
        <p:spPr>
          <a:xfrm>
            <a:off x="5436275" y="2889290"/>
            <a:ext cx="3757732" cy="653415"/>
          </a:xfrm>
          <a:prstGeom prst="rect">
            <a:avLst/>
          </a:prstGeom>
          <a:noFill/>
          <a:ln/>
        </p:spPr>
        <p:txBody>
          <a:bodyPr wrap="square" lIns="0" tIns="0" rIns="0" bIns="0" rtlCol="0" anchor="t"/>
          <a:lstStyle/>
          <a:p>
            <a:pPr marL="0" indent="0" algn="l">
              <a:lnSpc>
                <a:spcPts val="2550"/>
              </a:lnSpc>
              <a:buNone/>
            </a:pPr>
            <a:r>
              <a:rPr lang="en-US" sz="1600" dirty="0">
                <a:solidFill>
                  <a:srgbClr val="585E60"/>
                </a:solidFill>
                <a:latin typeface="Noto Serif" pitchFamily="34" charset="0"/>
                <a:ea typeface="Noto Serif" pitchFamily="34" charset="-122"/>
                <a:cs typeface="Noto Serif" pitchFamily="34" charset="-120"/>
              </a:rPr>
              <a:t>Calculate sample size requirements for </a:t>
            </a:r>
            <a:r>
              <a:rPr lang="en-US" sz="1600" i="1" dirty="0">
                <a:solidFill>
                  <a:srgbClr val="585E60"/>
                </a:solidFill>
                <a:latin typeface="Noto Serif" pitchFamily="34" charset="0"/>
                <a:ea typeface="Noto Serif" pitchFamily="34" charset="-122"/>
                <a:cs typeface="Noto Serif" pitchFamily="34" charset="-120"/>
              </a:rPr>
              <a:t>incremental value</a:t>
            </a:r>
            <a:r>
              <a:rPr lang="en-US" sz="1600" dirty="0">
                <a:solidFill>
                  <a:srgbClr val="585E60"/>
                </a:solidFill>
                <a:latin typeface="Noto Serif" pitchFamily="34" charset="0"/>
                <a:ea typeface="Noto Serif" pitchFamily="34" charset="-122"/>
                <a:cs typeface="Noto Serif" pitchFamily="34" charset="-120"/>
              </a:rPr>
              <a:t> metrics:</a:t>
            </a:r>
            <a:endParaRPr lang="en-US" sz="1600" dirty="0"/>
          </a:p>
        </p:txBody>
      </p:sp>
      <p:sp>
        <p:nvSpPr>
          <p:cNvPr id="11" name="Text 9"/>
          <p:cNvSpPr/>
          <p:nvPr/>
        </p:nvSpPr>
        <p:spPr>
          <a:xfrm>
            <a:off x="5436275" y="3665101"/>
            <a:ext cx="3757732" cy="653415"/>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ΔAUC improvement from adding AI component</a:t>
            </a:r>
            <a:endParaRPr lang="en-US" sz="1600" dirty="0"/>
          </a:p>
        </p:txBody>
      </p:sp>
      <p:sp>
        <p:nvSpPr>
          <p:cNvPr id="12" name="Text 10"/>
          <p:cNvSpPr/>
          <p:nvPr/>
        </p:nvSpPr>
        <p:spPr>
          <a:xfrm>
            <a:off x="5436275" y="4389953"/>
            <a:ext cx="3757732" cy="653415"/>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Net Reclassification Improvement (NRI)</a:t>
            </a:r>
            <a:endParaRPr lang="en-US" sz="1600" dirty="0"/>
          </a:p>
        </p:txBody>
      </p:sp>
      <p:sp>
        <p:nvSpPr>
          <p:cNvPr id="13" name="Text 11"/>
          <p:cNvSpPr/>
          <p:nvPr/>
        </p:nvSpPr>
        <p:spPr>
          <a:xfrm>
            <a:off x="5436275" y="5114806"/>
            <a:ext cx="3757732" cy="1306830"/>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Feature variability estimation: Large sample sizes needed for stable estimation in models with many predictors</a:t>
            </a:r>
            <a:endParaRPr lang="en-US" sz="1600" dirty="0"/>
          </a:p>
        </p:txBody>
      </p:sp>
      <p:sp>
        <p:nvSpPr>
          <p:cNvPr id="14" name="Text 12"/>
          <p:cNvSpPr/>
          <p:nvPr/>
        </p:nvSpPr>
        <p:spPr>
          <a:xfrm>
            <a:off x="5436275" y="6493073"/>
            <a:ext cx="3757732" cy="653415"/>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Often requires simulation studies to demonstrate feasibility</a:t>
            </a:r>
            <a:endParaRPr lang="en-US" sz="1600" dirty="0"/>
          </a:p>
        </p:txBody>
      </p:sp>
      <p:sp>
        <p:nvSpPr>
          <p:cNvPr id="15" name="Shape 13"/>
          <p:cNvSpPr/>
          <p:nvPr/>
        </p:nvSpPr>
        <p:spPr>
          <a:xfrm>
            <a:off x="9625013" y="1902262"/>
            <a:ext cx="4211598" cy="5471160"/>
          </a:xfrm>
          <a:prstGeom prst="roundRect">
            <a:avLst>
              <a:gd name="adj" fmla="val 2036"/>
            </a:avLst>
          </a:prstGeom>
          <a:solidFill>
            <a:srgbClr val="FFFFFF"/>
          </a:solidFill>
          <a:ln w="22860">
            <a:solidFill>
              <a:srgbClr val="BFCDD8"/>
            </a:solidFill>
            <a:prstDash val="solid"/>
          </a:ln>
        </p:spPr>
        <p:txBody>
          <a:bodyPr/>
          <a:lstStyle/>
          <a:p>
            <a:endParaRPr lang="en-US"/>
          </a:p>
        </p:txBody>
      </p:sp>
      <p:sp>
        <p:nvSpPr>
          <p:cNvPr id="16" name="Text 14"/>
          <p:cNvSpPr/>
          <p:nvPr/>
        </p:nvSpPr>
        <p:spPr>
          <a:xfrm>
            <a:off x="9851946" y="2129195"/>
            <a:ext cx="3511034" cy="318849"/>
          </a:xfrm>
          <a:prstGeom prst="rect">
            <a:avLst/>
          </a:prstGeom>
          <a:noFill/>
          <a:ln/>
        </p:spPr>
        <p:txBody>
          <a:bodyPr wrap="none" lIns="0" tIns="0" rIns="0" bIns="0" rtlCol="0" anchor="t"/>
          <a:lstStyle/>
          <a:p>
            <a:pPr marL="0" indent="0" algn="l">
              <a:lnSpc>
                <a:spcPts val="2500"/>
              </a:lnSpc>
              <a:buNone/>
            </a:pPr>
            <a:r>
              <a:rPr lang="en-US" sz="2000" dirty="0">
                <a:solidFill>
                  <a:srgbClr val="585E60"/>
                </a:solidFill>
                <a:latin typeface="Noto Sans" pitchFamily="34" charset="0"/>
                <a:ea typeface="Noto Sans" pitchFamily="34" charset="-122"/>
                <a:cs typeface="Noto Sans" pitchFamily="34" charset="-120"/>
              </a:rPr>
              <a:t>Funding and Implementation</a:t>
            </a:r>
            <a:endParaRPr lang="en-US" sz="2000" dirty="0"/>
          </a:p>
        </p:txBody>
      </p:sp>
      <p:sp>
        <p:nvSpPr>
          <p:cNvPr id="17" name="Text 15"/>
          <p:cNvSpPr/>
          <p:nvPr/>
        </p:nvSpPr>
        <p:spPr>
          <a:xfrm>
            <a:off x="9851946" y="2570440"/>
            <a:ext cx="3757732" cy="980123"/>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585E60"/>
                </a:solidFill>
                <a:latin typeface="Noto Serif" pitchFamily="34" charset="0"/>
                <a:ea typeface="Noto Serif" pitchFamily="34" charset="-122"/>
                <a:cs typeface="Noto Serif" pitchFamily="34" charset="-120"/>
              </a:rPr>
              <a:t>Funding Sources:</a:t>
            </a:r>
            <a:r>
              <a:rPr lang="en-US" sz="1600" dirty="0">
                <a:solidFill>
                  <a:srgbClr val="585E60"/>
                </a:solidFill>
                <a:latin typeface="Noto Serif" pitchFamily="34" charset="0"/>
                <a:ea typeface="Noto Serif" pitchFamily="34" charset="-122"/>
                <a:cs typeface="Noto Serif" pitchFamily="34" charset="-120"/>
              </a:rPr>
              <a:t> Pursuing NIH and VA grants for validation and implementation</a:t>
            </a:r>
            <a:endParaRPr lang="en-US" sz="1600" dirty="0"/>
          </a:p>
        </p:txBody>
      </p:sp>
      <p:sp>
        <p:nvSpPr>
          <p:cNvPr id="18" name="Text 16"/>
          <p:cNvSpPr/>
          <p:nvPr/>
        </p:nvSpPr>
        <p:spPr>
          <a:xfrm>
            <a:off x="9851946" y="3622000"/>
            <a:ext cx="3757732" cy="326708"/>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585E60"/>
                </a:solidFill>
                <a:latin typeface="Noto Serif" pitchFamily="34" charset="0"/>
                <a:ea typeface="Noto Serif" pitchFamily="34" charset="-122"/>
                <a:cs typeface="Noto Serif" pitchFamily="34" charset="-120"/>
              </a:rPr>
              <a:t>Key Requirements:</a:t>
            </a:r>
            <a:endParaRPr lang="en-US" sz="1600" dirty="0"/>
          </a:p>
        </p:txBody>
      </p:sp>
      <p:sp>
        <p:nvSpPr>
          <p:cNvPr id="19" name="Text 17"/>
          <p:cNvSpPr/>
          <p:nvPr/>
        </p:nvSpPr>
        <p:spPr>
          <a:xfrm>
            <a:off x="9851946" y="4020145"/>
            <a:ext cx="3757732" cy="653415"/>
          </a:xfrm>
          <a:prstGeom prst="rect">
            <a:avLst/>
          </a:prstGeom>
          <a:noFill/>
          <a:ln/>
        </p:spPr>
        <p:txBody>
          <a:bodyPr wrap="square" lIns="0" tIns="0" rIns="0" bIns="0" rtlCol="0" anchor="t"/>
          <a:lstStyle/>
          <a:p>
            <a:pPr marL="685800" lvl="1"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Access to images and/or non-coded text fields</a:t>
            </a:r>
            <a:endParaRPr lang="en-US" sz="1600" dirty="0"/>
          </a:p>
        </p:txBody>
      </p:sp>
      <p:sp>
        <p:nvSpPr>
          <p:cNvPr id="20" name="Text 18"/>
          <p:cNvSpPr/>
          <p:nvPr/>
        </p:nvSpPr>
        <p:spPr>
          <a:xfrm>
            <a:off x="9851946" y="4744998"/>
            <a:ext cx="3757732" cy="653415"/>
          </a:xfrm>
          <a:prstGeom prst="rect">
            <a:avLst/>
          </a:prstGeom>
          <a:noFill/>
          <a:ln/>
        </p:spPr>
        <p:txBody>
          <a:bodyPr wrap="square" lIns="0" tIns="0" rIns="0" bIns="0" rtlCol="0" anchor="t"/>
          <a:lstStyle/>
          <a:p>
            <a:pPr marL="685800" lvl="1"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Ability to implement AI models in clinical workflows</a:t>
            </a:r>
            <a:endParaRPr lang="en-US" sz="1600" dirty="0"/>
          </a:p>
        </p:txBody>
      </p:sp>
      <p:sp>
        <p:nvSpPr>
          <p:cNvPr id="21" name="Text 19"/>
          <p:cNvSpPr/>
          <p:nvPr/>
        </p:nvSpPr>
        <p:spPr>
          <a:xfrm>
            <a:off x="9851946" y="5469850"/>
            <a:ext cx="3757732" cy="980123"/>
          </a:xfrm>
          <a:prstGeom prst="rect">
            <a:avLst/>
          </a:prstGeom>
          <a:noFill/>
          <a:ln/>
        </p:spPr>
        <p:txBody>
          <a:bodyPr wrap="square" lIns="0" tIns="0" rIns="0" bIns="0" rtlCol="0" anchor="t"/>
          <a:lstStyle/>
          <a:p>
            <a:pPr marL="685800" lvl="1" indent="-342900" algn="l">
              <a:lnSpc>
                <a:spcPts val="2550"/>
              </a:lnSpc>
              <a:buSzPct val="100000"/>
              <a:buChar char="•"/>
            </a:pPr>
            <a:r>
              <a:rPr lang="en-US" sz="1600" dirty="0">
                <a:solidFill>
                  <a:srgbClr val="585E60"/>
                </a:solidFill>
                <a:latin typeface="Noto Serif" pitchFamily="34" charset="0"/>
                <a:ea typeface="Noto Serif" pitchFamily="34" charset="-122"/>
                <a:cs typeface="Noto Serif" pitchFamily="34" charset="-120"/>
              </a:rPr>
              <a:t>Clinical trial studies examining utility of screening or early diagnosis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696"/>
          </a:xfrm>
          <a:prstGeom prst="rect">
            <a:avLst/>
          </a:prstGeom>
        </p:spPr>
      </p:pic>
      <p:sp>
        <p:nvSpPr>
          <p:cNvPr id="3" name="Text 0"/>
          <p:cNvSpPr/>
          <p:nvPr/>
        </p:nvSpPr>
        <p:spPr>
          <a:xfrm>
            <a:off x="790932" y="621387"/>
            <a:ext cx="5367218" cy="670917"/>
          </a:xfrm>
          <a:prstGeom prst="rect">
            <a:avLst/>
          </a:prstGeom>
          <a:noFill/>
          <a:ln/>
        </p:spPr>
        <p:txBody>
          <a:bodyPr wrap="none" lIns="0" tIns="0" rIns="0" bIns="0" rtlCol="0" anchor="t"/>
          <a:lstStyle/>
          <a:p>
            <a:pPr marL="0" indent="0" algn="l">
              <a:lnSpc>
                <a:spcPts val="5250"/>
              </a:lnSpc>
              <a:buNone/>
            </a:pPr>
            <a:r>
              <a:rPr lang="en-US" sz="4200" dirty="0">
                <a:solidFill>
                  <a:srgbClr val="585E60"/>
                </a:solidFill>
                <a:latin typeface="Noto Sans" pitchFamily="34" charset="0"/>
                <a:ea typeface="Noto Sans" pitchFamily="34" charset="-122"/>
                <a:cs typeface="Noto Sans" pitchFamily="34" charset="-120"/>
              </a:rPr>
              <a:t>Thank You</a:t>
            </a:r>
            <a:endParaRPr lang="en-US" sz="4200" dirty="0"/>
          </a:p>
        </p:txBody>
      </p:sp>
      <p:sp>
        <p:nvSpPr>
          <p:cNvPr id="4" name="Text 1"/>
          <p:cNvSpPr/>
          <p:nvPr/>
        </p:nvSpPr>
        <p:spPr>
          <a:xfrm>
            <a:off x="790932" y="1614249"/>
            <a:ext cx="7562136" cy="1341834"/>
          </a:xfrm>
          <a:prstGeom prst="rect">
            <a:avLst/>
          </a:prstGeom>
          <a:noFill/>
          <a:ln/>
        </p:spPr>
        <p:txBody>
          <a:bodyPr wrap="none" lIns="0" tIns="0" rIns="0" bIns="0" rtlCol="0" anchor="t"/>
          <a:lstStyle/>
          <a:p>
            <a:pPr marL="0" indent="0" algn="l">
              <a:lnSpc>
                <a:spcPts val="10550"/>
              </a:lnSpc>
              <a:buNone/>
            </a:pPr>
            <a:r>
              <a:rPr lang="en-US" sz="8450" dirty="0">
                <a:solidFill>
                  <a:srgbClr val="585E60"/>
                </a:solidFill>
                <a:latin typeface="Noto Sans" pitchFamily="34" charset="0"/>
                <a:ea typeface="Noto Sans" pitchFamily="34" charset="-122"/>
                <a:cs typeface="Noto Sans" pitchFamily="34" charset="-120"/>
              </a:rPr>
              <a:t>Questions?</a:t>
            </a:r>
            <a:endParaRPr lang="en-US" sz="8450" dirty="0"/>
          </a:p>
        </p:txBody>
      </p:sp>
      <p:sp>
        <p:nvSpPr>
          <p:cNvPr id="5" name="Text 2"/>
          <p:cNvSpPr/>
          <p:nvPr/>
        </p:nvSpPr>
        <p:spPr>
          <a:xfrm>
            <a:off x="790932" y="3278029"/>
            <a:ext cx="7562136" cy="1373505"/>
          </a:xfrm>
          <a:prstGeom prst="rect">
            <a:avLst/>
          </a:prstGeom>
          <a:noFill/>
          <a:ln/>
        </p:spPr>
        <p:txBody>
          <a:bodyPr wrap="square" lIns="0" tIns="0" rIns="0" bIns="0" rtlCol="0" anchor="t"/>
          <a:lstStyle/>
          <a:p>
            <a:pPr marL="0" indent="0" algn="l">
              <a:lnSpc>
                <a:spcPts val="2700"/>
              </a:lnSpc>
              <a:buNone/>
            </a:pPr>
            <a:r>
              <a:rPr lang="en-US" sz="1650" b="1" dirty="0">
                <a:solidFill>
                  <a:srgbClr val="585E60"/>
                </a:solidFill>
                <a:latin typeface="Noto Serif" pitchFamily="34" charset="0"/>
                <a:ea typeface="Noto Serif" pitchFamily="34" charset="-122"/>
                <a:cs typeface="Noto Serif" pitchFamily="34" charset="-120"/>
              </a:rPr>
              <a:t>Jessica Minnier, Ph.D.</a:t>
            </a:r>
            <a:r>
              <a:rPr lang="en-US" sz="1650" dirty="0">
                <a:solidFill>
                  <a:srgbClr val="585E60"/>
                </a:solidFill>
                <a:latin typeface="Noto Serif" pitchFamily="34" charset="0"/>
                <a:ea typeface="Noto Serif" pitchFamily="34" charset="-122"/>
                <a:cs typeface="Noto Serif" pitchFamily="34" charset="-120"/>
              </a:rPr>
              <a:t>Associate Professor, Biostatistics</a:t>
            </a:r>
          </a:p>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OHSU-PSU School of Public Health</a:t>
            </a:r>
          </a:p>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Knight Cancer Institute, Biostatistics &amp; Data Science Shared Resource</a:t>
            </a:r>
            <a:endParaRPr lang="en-US" sz="1650" dirty="0"/>
          </a:p>
        </p:txBody>
      </p:sp>
      <p:sp>
        <p:nvSpPr>
          <p:cNvPr id="6" name="Text 3"/>
          <p:cNvSpPr/>
          <p:nvPr/>
        </p:nvSpPr>
        <p:spPr>
          <a:xfrm>
            <a:off x="790932" y="4892993"/>
            <a:ext cx="7562136" cy="343376"/>
          </a:xfrm>
          <a:prstGeom prst="rect">
            <a:avLst/>
          </a:prstGeom>
          <a:noFill/>
          <a:ln/>
        </p:spPr>
        <p:txBody>
          <a:bodyPr wrap="none" lIns="0" tIns="0" rIns="0" bIns="0" rtlCol="0" anchor="t"/>
          <a:lstStyle/>
          <a:p>
            <a:pPr marL="0" indent="0" algn="l">
              <a:lnSpc>
                <a:spcPts val="2700"/>
              </a:lnSpc>
              <a:buNone/>
            </a:pPr>
            <a:r>
              <a:rPr lang="en-US" sz="1650" dirty="0">
                <a:solidFill>
                  <a:srgbClr val="585E60"/>
                </a:solidFill>
                <a:latin typeface="Noto Serif" pitchFamily="34" charset="0"/>
                <a:ea typeface="Noto Serif" pitchFamily="34" charset="-122"/>
                <a:cs typeface="Noto Serif" pitchFamily="34" charset="-120"/>
              </a:rPr>
              <a:t>minnier@ohsu.edu</a:t>
            </a:r>
            <a:endParaRPr lang="en-US" sz="1650" dirty="0"/>
          </a:p>
        </p:txBody>
      </p:sp>
      <p:pic>
        <p:nvPicPr>
          <p:cNvPr id="7" name="Image 1" descr="preencoded.png"/>
          <p:cNvPicPr>
            <a:picLocks noChangeAspect="1"/>
          </p:cNvPicPr>
          <p:nvPr/>
        </p:nvPicPr>
        <p:blipFill>
          <a:blip r:embed="rId4"/>
          <a:stretch>
            <a:fillRect/>
          </a:stretch>
        </p:blipFill>
        <p:spPr>
          <a:xfrm>
            <a:off x="790932" y="5719286"/>
            <a:ext cx="2037278" cy="939046"/>
          </a:xfrm>
          <a:prstGeom prst="rect">
            <a:avLst/>
          </a:prstGeom>
        </p:spPr>
      </p:pic>
      <p:pic>
        <p:nvPicPr>
          <p:cNvPr id="8" name="Image 2" descr="preencoded.png"/>
          <p:cNvPicPr>
            <a:picLocks noChangeAspect="1"/>
          </p:cNvPicPr>
          <p:nvPr/>
        </p:nvPicPr>
        <p:blipFill>
          <a:blip r:embed="rId5"/>
          <a:stretch>
            <a:fillRect/>
          </a:stretch>
        </p:blipFill>
        <p:spPr>
          <a:xfrm>
            <a:off x="3589139" y="5719286"/>
            <a:ext cx="4649033" cy="1134308"/>
          </a:xfrm>
          <a:prstGeom prst="rect">
            <a:avLst/>
          </a:prstGeom>
        </p:spPr>
      </p:pic>
      <p:sp>
        <p:nvSpPr>
          <p:cNvPr id="9" name="Text 4"/>
          <p:cNvSpPr/>
          <p:nvPr/>
        </p:nvSpPr>
        <p:spPr>
          <a:xfrm>
            <a:off x="790932" y="7336512"/>
            <a:ext cx="7562136" cy="274796"/>
          </a:xfrm>
          <a:prstGeom prst="rect">
            <a:avLst/>
          </a:prstGeom>
          <a:noFill/>
          <a:ln/>
        </p:spPr>
        <p:txBody>
          <a:bodyPr wrap="none" lIns="0" tIns="0" rIns="0" bIns="0" rtlCol="0" anchor="t"/>
          <a:lstStyle/>
          <a:p>
            <a:pPr marL="0" indent="0" algn="r">
              <a:lnSpc>
                <a:spcPts val="2150"/>
              </a:lnSpc>
              <a:buNone/>
            </a:pPr>
            <a:r>
              <a:rPr lang="en-US" sz="1350" dirty="0">
                <a:solidFill>
                  <a:srgbClr val="585E60"/>
                </a:solidFill>
                <a:latin typeface="Noto Serif" pitchFamily="34" charset="0"/>
                <a:ea typeface="Noto Serif" pitchFamily="34" charset="-122"/>
                <a:cs typeface="Noto Serif" pitchFamily="34" charset="-120"/>
              </a:rPr>
              <a:t>Most images from lummi.ai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1481</Words>
  <Application>Microsoft Macintosh PowerPoint</Application>
  <PresentationFormat>Custom</PresentationFormat>
  <Paragraphs>162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Noto Sans</vt:lpstr>
      <vt:lpstr>Arial</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Jessica Minnier</cp:lastModifiedBy>
  <cp:revision>3</cp:revision>
  <dcterms:created xsi:type="dcterms:W3CDTF">2025-11-20T03:26:18Z</dcterms:created>
  <dcterms:modified xsi:type="dcterms:W3CDTF">2025-11-20T03:32:37Z</dcterms:modified>
</cp:coreProperties>
</file>